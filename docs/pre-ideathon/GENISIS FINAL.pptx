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7DB3F8-3FDF-49D6-86B0-0A1583E3BB32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AD1A29A-8346-43F8-966B-100D16C65677}">
      <dgm:prSet phldrT="[Text]"/>
      <dgm:spPr/>
      <dgm:t>
        <a:bodyPr/>
        <a:lstStyle/>
        <a:p>
          <a:pPr>
            <a:buNone/>
          </a:pPr>
          <a:r>
            <a:rPr lang="en-IN" dirty="0"/>
            <a:t>The Bottlenecks</a:t>
          </a:r>
        </a:p>
      </dgm:t>
    </dgm:pt>
    <dgm:pt modelId="{5A669751-3606-427B-BE29-3AF4B602DB63}" type="parTrans" cxnId="{7436AD9C-EA19-461A-94C7-F3C42965E8A9}">
      <dgm:prSet/>
      <dgm:spPr/>
      <dgm:t>
        <a:bodyPr/>
        <a:lstStyle/>
        <a:p>
          <a:endParaRPr lang="en-IN"/>
        </a:p>
      </dgm:t>
    </dgm:pt>
    <dgm:pt modelId="{3F3D681C-A85B-4F32-9194-AFBB8F072342}" type="sibTrans" cxnId="{7436AD9C-EA19-461A-94C7-F3C42965E8A9}">
      <dgm:prSet/>
      <dgm:spPr/>
      <dgm:t>
        <a:bodyPr/>
        <a:lstStyle/>
        <a:p>
          <a:endParaRPr lang="en-IN"/>
        </a:p>
      </dgm:t>
    </dgm:pt>
    <dgm:pt modelId="{96F12058-8C29-406A-BF1B-070CC97101A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Timing Gaps:</a:t>
          </a:r>
          <a:r>
            <a:rPr lang="en-IN" sz="1400" dirty="0"/>
            <a:t> Factory heat supply rises and falls with work shifts, while AI server cooling needs jump without warning. </a:t>
          </a:r>
        </a:p>
      </dgm:t>
    </dgm:pt>
    <dgm:pt modelId="{0ECDE566-1E52-4E94-8C52-B3D3B7C9C080}" type="parTrans" cxnId="{CAE988AE-8B72-474E-8061-78402A59BAD1}">
      <dgm:prSet/>
      <dgm:spPr/>
      <dgm:t>
        <a:bodyPr/>
        <a:lstStyle/>
        <a:p>
          <a:endParaRPr lang="en-IN"/>
        </a:p>
      </dgm:t>
    </dgm:pt>
    <dgm:pt modelId="{877E82AD-A5A5-47A5-9A0C-8FF7BF1870D0}" type="sibTrans" cxnId="{CAE988AE-8B72-474E-8061-78402A59BAD1}">
      <dgm:prSet/>
      <dgm:spPr/>
      <dgm:t>
        <a:bodyPr/>
        <a:lstStyle/>
        <a:p>
          <a:endParaRPr lang="en-IN"/>
        </a:p>
      </dgm:t>
    </dgm:pt>
    <dgm:pt modelId="{9D1E1A0E-B163-47C9-83F3-2C1867B1CBEA}">
      <dgm:prSet phldrT="[Text]"/>
      <dgm:spPr/>
      <dgm:t>
        <a:bodyPr/>
        <a:lstStyle/>
        <a:p>
          <a:pPr>
            <a:buNone/>
          </a:pPr>
          <a:r>
            <a:rPr lang="en-IN" dirty="0"/>
            <a:t>The Root Causes</a:t>
          </a:r>
        </a:p>
      </dgm:t>
    </dgm:pt>
    <dgm:pt modelId="{84690BA0-B3C0-4914-8E14-9978DDD12B4B}" type="parTrans" cxnId="{C7E8AE14-899C-47CD-B127-068DDF3666DB}">
      <dgm:prSet/>
      <dgm:spPr/>
      <dgm:t>
        <a:bodyPr/>
        <a:lstStyle/>
        <a:p>
          <a:endParaRPr lang="en-IN"/>
        </a:p>
      </dgm:t>
    </dgm:pt>
    <dgm:pt modelId="{D434D7B0-7F1C-414E-A9A3-6D4BACB64EC8}" type="sibTrans" cxnId="{C7E8AE14-899C-47CD-B127-068DDF3666DB}">
      <dgm:prSet/>
      <dgm:spPr/>
      <dgm:t>
        <a:bodyPr/>
        <a:lstStyle/>
        <a:p>
          <a:endParaRPr lang="en-IN"/>
        </a:p>
      </dgm:t>
    </dgm:pt>
    <dgm:pt modelId="{09B30397-7191-4D61-A1B5-15F873F4A51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Industrial–IT Connectivity </a:t>
          </a:r>
          <a:r>
            <a:rPr lang="en-IN" sz="1400" b="1" dirty="0" err="1"/>
            <a:t>Barriers:</a:t>
          </a:r>
          <a:r>
            <a:rPr lang="en-IN" sz="1400" dirty="0" err="1"/>
            <a:t>Industrial</a:t>
          </a:r>
          <a:r>
            <a:rPr lang="en-IN" sz="1400" dirty="0"/>
            <a:t> control systems (OT) stay disconnected from IT systems to prevent cyberattacks. </a:t>
          </a:r>
        </a:p>
      </dgm:t>
    </dgm:pt>
    <dgm:pt modelId="{E26A49F7-5A5B-44A6-AA10-74BB2B2CA992}" type="parTrans" cxnId="{35013D65-2D3C-4C85-BD03-914FAD8B1B2F}">
      <dgm:prSet/>
      <dgm:spPr/>
      <dgm:t>
        <a:bodyPr/>
        <a:lstStyle/>
        <a:p>
          <a:endParaRPr lang="en-IN"/>
        </a:p>
      </dgm:t>
    </dgm:pt>
    <dgm:pt modelId="{30391913-F029-4189-AF36-401FF2A5A6C2}" type="sibTrans" cxnId="{35013D65-2D3C-4C85-BD03-914FAD8B1B2F}">
      <dgm:prSet/>
      <dgm:spPr/>
      <dgm:t>
        <a:bodyPr/>
        <a:lstStyle/>
        <a:p>
          <a:endParaRPr lang="en-IN"/>
        </a:p>
      </dgm:t>
    </dgm:pt>
    <dgm:pt modelId="{EB3FE820-9FCD-490A-944A-C8E6F74040B5}">
      <dgm:prSet phldrT="[Text]"/>
      <dgm:spPr/>
      <dgm:t>
        <a:bodyPr/>
        <a:lstStyle/>
        <a:p>
          <a:pPr>
            <a:buNone/>
          </a:pPr>
          <a:r>
            <a:rPr lang="en-IN" dirty="0"/>
            <a:t>The Business &amp; Environmental Cost</a:t>
          </a:r>
        </a:p>
      </dgm:t>
    </dgm:pt>
    <dgm:pt modelId="{25F6CCBF-740A-4ADA-AD55-27F43FFA5FD7}" type="parTrans" cxnId="{70C91CC6-5FD9-47FF-A762-E1D370EB1A64}">
      <dgm:prSet/>
      <dgm:spPr/>
      <dgm:t>
        <a:bodyPr/>
        <a:lstStyle/>
        <a:p>
          <a:endParaRPr lang="en-IN"/>
        </a:p>
      </dgm:t>
    </dgm:pt>
    <dgm:pt modelId="{C51D4D39-A86E-45ED-BA4C-5FE89CAD55B4}" type="sibTrans" cxnId="{70C91CC6-5FD9-47FF-A762-E1D370EB1A64}">
      <dgm:prSet/>
      <dgm:spPr/>
      <dgm:t>
        <a:bodyPr/>
        <a:lstStyle/>
        <a:p>
          <a:endParaRPr lang="en-IN"/>
        </a:p>
      </dgm:t>
    </dgm:pt>
    <dgm:pt modelId="{B9B19269-2A45-4CD9-A26E-F7396655F7B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Drinking Water Loss:</a:t>
          </a:r>
          <a:r>
            <a:rPr lang="en-IN" sz="1400" dirty="0"/>
            <a:t> Millions of </a:t>
          </a:r>
          <a:r>
            <a:rPr lang="en-IN" sz="1400" dirty="0" err="1"/>
            <a:t>liters</a:t>
          </a:r>
          <a:r>
            <a:rPr lang="en-IN" sz="1400" dirty="0"/>
            <a:t> of fresh city tap water evaporate in cooling towers daily. </a:t>
          </a:r>
        </a:p>
      </dgm:t>
    </dgm:pt>
    <dgm:pt modelId="{14C191AD-98E4-4B26-8230-18790E52EFA4}" type="parTrans" cxnId="{59553EEE-4929-4715-AA04-61159F446211}">
      <dgm:prSet/>
      <dgm:spPr/>
      <dgm:t>
        <a:bodyPr/>
        <a:lstStyle/>
        <a:p>
          <a:endParaRPr lang="en-IN"/>
        </a:p>
      </dgm:t>
    </dgm:pt>
    <dgm:pt modelId="{7852F944-C527-41D0-8089-53C8362F1081}" type="sibTrans" cxnId="{59553EEE-4929-4715-AA04-61159F446211}">
      <dgm:prSet/>
      <dgm:spPr/>
      <dgm:t>
        <a:bodyPr/>
        <a:lstStyle/>
        <a:p>
          <a:endParaRPr lang="en-IN"/>
        </a:p>
      </dgm:t>
    </dgm:pt>
    <dgm:pt modelId="{7CB8B67C-BFB2-4780-BEFC-B81F8F32D71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Distance Limits:</a:t>
          </a:r>
          <a:r>
            <a:rPr lang="en-IN" sz="1400" dirty="0"/>
            <a:t> Heat degrades fast across long pipelines, requiring plants and data </a:t>
          </a:r>
          <a:r>
            <a:rPr lang="en-IN" sz="1400" dirty="0" err="1"/>
            <a:t>centers</a:t>
          </a:r>
          <a:r>
            <a:rPr lang="en-IN" sz="1400" dirty="0"/>
            <a:t> to be co-located. </a:t>
          </a:r>
        </a:p>
      </dgm:t>
    </dgm:pt>
    <dgm:pt modelId="{01D27D16-39BB-49F4-91A5-F27E96D7B8F0}" type="parTrans" cxnId="{05D8F5DB-4F10-41DF-AA50-FF808AFD1838}">
      <dgm:prSet/>
      <dgm:spPr/>
      <dgm:t>
        <a:bodyPr/>
        <a:lstStyle/>
        <a:p>
          <a:endParaRPr lang="en-IN"/>
        </a:p>
      </dgm:t>
    </dgm:pt>
    <dgm:pt modelId="{9EBBFE76-D9D4-47F7-800F-0FF54E71A4A0}" type="sibTrans" cxnId="{05D8F5DB-4F10-41DF-AA50-FF808AFD1838}">
      <dgm:prSet/>
      <dgm:spPr/>
      <dgm:t>
        <a:bodyPr/>
        <a:lstStyle/>
        <a:p>
          <a:endParaRPr lang="en-IN"/>
        </a:p>
      </dgm:t>
    </dgm:pt>
    <dgm:pt modelId="{313467AC-9F4E-4D8C-933B-2A0C8960EF3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Heat and Water Quality:</a:t>
          </a:r>
          <a:r>
            <a:rPr lang="en-US" sz="1400" b="0" dirty="0"/>
            <a:t>Industrial exhaust may contain contaminants, and recovered water may require treatment before reuse.</a:t>
          </a:r>
          <a:endParaRPr lang="en-IN" sz="1400" b="0" dirty="0"/>
        </a:p>
      </dgm:t>
    </dgm:pt>
    <dgm:pt modelId="{6CB8CBE4-D043-41EE-BE5C-1E7205986449}" type="parTrans" cxnId="{245FCA58-2BFD-46F5-802B-E1E5A3487018}">
      <dgm:prSet/>
      <dgm:spPr/>
      <dgm:t>
        <a:bodyPr/>
        <a:lstStyle/>
        <a:p>
          <a:endParaRPr lang="en-IN"/>
        </a:p>
      </dgm:t>
    </dgm:pt>
    <dgm:pt modelId="{7A4D93C0-DA60-4FFD-BB20-066436A1E72A}" type="sibTrans" cxnId="{245FCA58-2BFD-46F5-802B-E1E5A3487018}">
      <dgm:prSet/>
      <dgm:spPr/>
      <dgm:t>
        <a:bodyPr/>
        <a:lstStyle/>
        <a:p>
          <a:endParaRPr lang="en-IN"/>
        </a:p>
      </dgm:t>
    </dgm:pt>
    <dgm:pt modelId="{D03E8220-D634-4DCD-BD20-E309189A9BF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Inflated Operating Bills:</a:t>
          </a:r>
          <a:r>
            <a:rPr lang="en-IN" sz="1400" dirty="0"/>
            <a:t> Data </a:t>
          </a:r>
          <a:r>
            <a:rPr lang="en-IN" sz="1400" dirty="0" err="1"/>
            <a:t>centers</a:t>
          </a:r>
          <a:r>
            <a:rPr lang="en-IN" sz="1400" dirty="0"/>
            <a:t> pay full price for electricity to run mechanical chillers. </a:t>
          </a:r>
        </a:p>
      </dgm:t>
    </dgm:pt>
    <dgm:pt modelId="{C8B458DC-B395-405D-806E-C4AC09CA074D}" type="parTrans" cxnId="{F5CA7FD5-24B3-47F3-8FFA-2A5443141D4D}">
      <dgm:prSet/>
      <dgm:spPr/>
      <dgm:t>
        <a:bodyPr/>
        <a:lstStyle/>
        <a:p>
          <a:endParaRPr lang="en-IN"/>
        </a:p>
      </dgm:t>
    </dgm:pt>
    <dgm:pt modelId="{6DF7A458-8CC5-4EED-86F1-4DF7D17FD015}" type="sibTrans" cxnId="{F5CA7FD5-24B3-47F3-8FFA-2A5443141D4D}">
      <dgm:prSet/>
      <dgm:spPr/>
      <dgm:t>
        <a:bodyPr/>
        <a:lstStyle/>
        <a:p>
          <a:endParaRPr lang="en-IN"/>
        </a:p>
      </dgm:t>
    </dgm:pt>
    <dgm:pt modelId="{046BBBFF-5A4E-483F-954F-BAB24EB657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Vented Energy:</a:t>
          </a:r>
          <a:r>
            <a:rPr lang="en-IN" sz="1400" dirty="0"/>
            <a:t> Reusable heat and clean moisture continue escaping into the atmosphere as waste.</a:t>
          </a:r>
        </a:p>
      </dgm:t>
    </dgm:pt>
    <dgm:pt modelId="{41FDE880-22EC-486B-AA6A-D0CB45693693}" type="parTrans" cxnId="{09AA4153-F5AA-4ECE-98B5-894071D8F20B}">
      <dgm:prSet/>
      <dgm:spPr/>
      <dgm:t>
        <a:bodyPr/>
        <a:lstStyle/>
        <a:p>
          <a:endParaRPr lang="en-IN"/>
        </a:p>
      </dgm:t>
    </dgm:pt>
    <dgm:pt modelId="{AC5EBB53-A6BD-4623-B971-2025DD996EA1}" type="sibTrans" cxnId="{09AA4153-F5AA-4ECE-98B5-894071D8F20B}">
      <dgm:prSet/>
      <dgm:spPr/>
      <dgm:t>
        <a:bodyPr/>
        <a:lstStyle/>
        <a:p>
          <a:endParaRPr lang="en-IN"/>
        </a:p>
      </dgm:t>
    </dgm:pt>
    <dgm:pt modelId="{01D4D918-411D-44F0-8D7C-C0E8AFAFB0E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/>
            <a:t>Zero Shared Intelligence:</a:t>
          </a:r>
          <a:r>
            <a:rPr lang="en-IN" sz="1400"/>
            <a:t> Neither facility shares real-time schedules or demand forecasts. </a:t>
          </a:r>
        </a:p>
      </dgm:t>
    </dgm:pt>
    <dgm:pt modelId="{493A8AA3-52A8-49F8-898C-2287B0961501}" type="parTrans" cxnId="{F9431543-F719-4BB0-8DEF-4175A9B296C9}">
      <dgm:prSet/>
      <dgm:spPr/>
      <dgm:t>
        <a:bodyPr/>
        <a:lstStyle/>
        <a:p>
          <a:endParaRPr lang="en-IN"/>
        </a:p>
      </dgm:t>
    </dgm:pt>
    <dgm:pt modelId="{4F459EA0-5605-4B9E-A378-FB59C4522C89}" type="sibTrans" cxnId="{F9431543-F719-4BB0-8DEF-4175A9B296C9}">
      <dgm:prSet/>
      <dgm:spPr/>
      <dgm:t>
        <a:bodyPr/>
        <a:lstStyle/>
        <a:p>
          <a:endParaRPr lang="en-IN"/>
        </a:p>
      </dgm:t>
    </dgm:pt>
    <dgm:pt modelId="{939DFED2-FC01-4C55-88DA-DFEFF13F507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/>
            <a:t>No Trade Mechanism:</a:t>
          </a:r>
          <a:r>
            <a:rPr lang="en-IN" sz="1400" dirty="0"/>
            <a:t> No plug-and-play framework exists to price and exchange waste heat or recovered water</a:t>
          </a:r>
        </a:p>
      </dgm:t>
    </dgm:pt>
    <dgm:pt modelId="{EAFF2482-35CF-48AF-B340-53D8A374E18C}" type="parTrans" cxnId="{C0069897-5142-4215-8FD0-6FD65F91746D}">
      <dgm:prSet/>
      <dgm:spPr/>
      <dgm:t>
        <a:bodyPr/>
        <a:lstStyle/>
        <a:p>
          <a:endParaRPr lang="en-IN"/>
        </a:p>
      </dgm:t>
    </dgm:pt>
    <dgm:pt modelId="{3BEB26C5-D4F3-4593-A19D-93408A229126}" type="sibTrans" cxnId="{C0069897-5142-4215-8FD0-6FD65F91746D}">
      <dgm:prSet/>
      <dgm:spPr/>
      <dgm:t>
        <a:bodyPr/>
        <a:lstStyle/>
        <a:p>
          <a:endParaRPr lang="en-IN"/>
        </a:p>
      </dgm:t>
    </dgm:pt>
    <dgm:pt modelId="{9A61FF3A-5F7A-4CDC-9203-A7E6B1DA98F6}" type="pres">
      <dgm:prSet presAssocID="{857DB3F8-3FDF-49D6-86B0-0A1583E3BB32}" presName="Name0" presStyleCnt="0">
        <dgm:presLayoutVars>
          <dgm:dir/>
          <dgm:animLvl val="lvl"/>
          <dgm:resizeHandles val="exact"/>
        </dgm:presLayoutVars>
      </dgm:prSet>
      <dgm:spPr/>
    </dgm:pt>
    <dgm:pt modelId="{2BF633C7-695B-4EB8-8C3F-4EE4783D35B0}" type="pres">
      <dgm:prSet presAssocID="{857DB3F8-3FDF-49D6-86B0-0A1583E3BB32}" presName="tSp" presStyleCnt="0"/>
      <dgm:spPr/>
    </dgm:pt>
    <dgm:pt modelId="{DAA59C07-8017-4A3C-B585-CE549AB4F6D6}" type="pres">
      <dgm:prSet presAssocID="{857DB3F8-3FDF-49D6-86B0-0A1583E3BB32}" presName="bSp" presStyleCnt="0"/>
      <dgm:spPr/>
    </dgm:pt>
    <dgm:pt modelId="{D9BEE1F0-2680-410A-A7C4-0D8DE4CFF363}" type="pres">
      <dgm:prSet presAssocID="{857DB3F8-3FDF-49D6-86B0-0A1583E3BB32}" presName="process" presStyleCnt="0"/>
      <dgm:spPr/>
    </dgm:pt>
    <dgm:pt modelId="{73CED885-76A9-46F4-A428-B8BF386ACCCF}" type="pres">
      <dgm:prSet presAssocID="{AAD1A29A-8346-43F8-966B-100D16C65677}" presName="composite1" presStyleCnt="0"/>
      <dgm:spPr/>
    </dgm:pt>
    <dgm:pt modelId="{92582D92-F7E0-4058-8253-ACF186850FA0}" type="pres">
      <dgm:prSet presAssocID="{AAD1A29A-8346-43F8-966B-100D16C65677}" presName="dummyNode1" presStyleLbl="node1" presStyleIdx="0" presStyleCnt="3"/>
      <dgm:spPr/>
    </dgm:pt>
    <dgm:pt modelId="{7A29B966-7029-4CB8-82D5-442C7D15045D}" type="pres">
      <dgm:prSet presAssocID="{AAD1A29A-8346-43F8-966B-100D16C65677}" presName="childNode1" presStyleLbl="bgAcc1" presStyleIdx="0" presStyleCnt="3" custScaleX="158479" custScaleY="172766" custLinFactNeighborX="-3209" custLinFactNeighborY="104">
        <dgm:presLayoutVars>
          <dgm:bulletEnabled val="1"/>
        </dgm:presLayoutVars>
      </dgm:prSet>
      <dgm:spPr/>
    </dgm:pt>
    <dgm:pt modelId="{781F0C12-5FA6-45E9-8895-2DB66EF81CB0}" type="pres">
      <dgm:prSet presAssocID="{AAD1A29A-8346-43F8-966B-100D16C65677}" presName="childNode1tx" presStyleLbl="bgAcc1" presStyleIdx="0" presStyleCnt="3">
        <dgm:presLayoutVars>
          <dgm:bulletEnabled val="1"/>
        </dgm:presLayoutVars>
      </dgm:prSet>
      <dgm:spPr/>
    </dgm:pt>
    <dgm:pt modelId="{99D66295-647F-49B7-9BCD-2A316B936AB9}" type="pres">
      <dgm:prSet presAssocID="{AAD1A29A-8346-43F8-966B-100D16C65677}" presName="parentNode1" presStyleLbl="node1" presStyleIdx="0" presStyleCnt="3" custScaleY="64144" custLinFactY="8210" custLinFactNeighborX="10907" custLinFactNeighborY="100000">
        <dgm:presLayoutVars>
          <dgm:chMax val="1"/>
          <dgm:bulletEnabled val="1"/>
        </dgm:presLayoutVars>
      </dgm:prSet>
      <dgm:spPr/>
    </dgm:pt>
    <dgm:pt modelId="{447E1CCD-C2D9-413F-BF5C-E483D245EC76}" type="pres">
      <dgm:prSet presAssocID="{AAD1A29A-8346-43F8-966B-100D16C65677}" presName="connSite1" presStyleCnt="0"/>
      <dgm:spPr/>
    </dgm:pt>
    <dgm:pt modelId="{87D54154-9D6D-4FA7-8E04-32FA20E105CD}" type="pres">
      <dgm:prSet presAssocID="{3F3D681C-A85B-4F32-9194-AFBB8F072342}" presName="Name9" presStyleLbl="sibTrans2D1" presStyleIdx="0" presStyleCnt="2"/>
      <dgm:spPr/>
    </dgm:pt>
    <dgm:pt modelId="{6454FEB7-C983-4572-89A0-53A875EE4373}" type="pres">
      <dgm:prSet presAssocID="{9D1E1A0E-B163-47C9-83F3-2C1867B1CBEA}" presName="composite2" presStyleCnt="0"/>
      <dgm:spPr/>
    </dgm:pt>
    <dgm:pt modelId="{328BCE6D-5E2F-4C22-AC2E-DF7C06F90D01}" type="pres">
      <dgm:prSet presAssocID="{9D1E1A0E-B163-47C9-83F3-2C1867B1CBEA}" presName="dummyNode2" presStyleLbl="node1" presStyleIdx="0" presStyleCnt="3"/>
      <dgm:spPr/>
    </dgm:pt>
    <dgm:pt modelId="{A6571EB6-CABF-49E2-9717-EC2FA33E9A3F}" type="pres">
      <dgm:prSet presAssocID="{9D1E1A0E-B163-47C9-83F3-2C1867B1CBEA}" presName="childNode2" presStyleLbl="bgAcc1" presStyleIdx="1" presStyleCnt="3" custScaleX="170032" custScaleY="193354">
        <dgm:presLayoutVars>
          <dgm:bulletEnabled val="1"/>
        </dgm:presLayoutVars>
      </dgm:prSet>
      <dgm:spPr/>
    </dgm:pt>
    <dgm:pt modelId="{81DE507C-44D3-466E-B75B-9E60531B8D1D}" type="pres">
      <dgm:prSet presAssocID="{9D1E1A0E-B163-47C9-83F3-2C1867B1CBEA}" presName="childNode2tx" presStyleLbl="bgAcc1" presStyleIdx="1" presStyleCnt="3">
        <dgm:presLayoutVars>
          <dgm:bulletEnabled val="1"/>
        </dgm:presLayoutVars>
      </dgm:prSet>
      <dgm:spPr/>
    </dgm:pt>
    <dgm:pt modelId="{FEB181D5-8B14-44BE-B45C-42B725CB5248}" type="pres">
      <dgm:prSet presAssocID="{9D1E1A0E-B163-47C9-83F3-2C1867B1CBEA}" presName="parentNode2" presStyleLbl="node1" presStyleIdx="1" presStyleCnt="3" custScaleY="85041" custLinFactNeighborX="6899" custLinFactNeighborY="-64537">
        <dgm:presLayoutVars>
          <dgm:chMax val="0"/>
          <dgm:bulletEnabled val="1"/>
        </dgm:presLayoutVars>
      </dgm:prSet>
      <dgm:spPr/>
    </dgm:pt>
    <dgm:pt modelId="{72D670DE-A6FE-498E-AFF3-017F771DDE4C}" type="pres">
      <dgm:prSet presAssocID="{9D1E1A0E-B163-47C9-83F3-2C1867B1CBEA}" presName="connSite2" presStyleCnt="0"/>
      <dgm:spPr/>
    </dgm:pt>
    <dgm:pt modelId="{6F716DE0-3BBD-47E6-B411-026A4D9120FF}" type="pres">
      <dgm:prSet presAssocID="{D434D7B0-7F1C-414E-A9A3-6D4BACB64EC8}" presName="Name18" presStyleLbl="sibTrans2D1" presStyleIdx="1" presStyleCnt="2"/>
      <dgm:spPr/>
    </dgm:pt>
    <dgm:pt modelId="{1DA31EF2-22D4-4B87-9A1A-85FF39EAB95D}" type="pres">
      <dgm:prSet presAssocID="{EB3FE820-9FCD-490A-944A-C8E6F74040B5}" presName="composite1" presStyleCnt="0"/>
      <dgm:spPr/>
    </dgm:pt>
    <dgm:pt modelId="{88F93508-6E3E-4BDC-ADF5-7E548E8970DB}" type="pres">
      <dgm:prSet presAssocID="{EB3FE820-9FCD-490A-944A-C8E6F74040B5}" presName="dummyNode1" presStyleLbl="node1" presStyleIdx="1" presStyleCnt="3"/>
      <dgm:spPr/>
    </dgm:pt>
    <dgm:pt modelId="{091324E6-E870-4878-9EB4-A9F86F3EC0F5}" type="pres">
      <dgm:prSet presAssocID="{EB3FE820-9FCD-490A-944A-C8E6F74040B5}" presName="childNode1" presStyleLbl="bgAcc1" presStyleIdx="2" presStyleCnt="3" custScaleX="151643" custScaleY="161158">
        <dgm:presLayoutVars>
          <dgm:bulletEnabled val="1"/>
        </dgm:presLayoutVars>
      </dgm:prSet>
      <dgm:spPr/>
    </dgm:pt>
    <dgm:pt modelId="{AABD9115-BB94-4AFF-AD8C-2838C2DC4980}" type="pres">
      <dgm:prSet presAssocID="{EB3FE820-9FCD-490A-944A-C8E6F74040B5}" presName="childNode1tx" presStyleLbl="bgAcc1" presStyleIdx="2" presStyleCnt="3">
        <dgm:presLayoutVars>
          <dgm:bulletEnabled val="1"/>
        </dgm:presLayoutVars>
      </dgm:prSet>
      <dgm:spPr/>
    </dgm:pt>
    <dgm:pt modelId="{5CB7F362-58CA-4DB3-BAFE-F16CC2EBEBE6}" type="pres">
      <dgm:prSet presAssocID="{EB3FE820-9FCD-490A-944A-C8E6F74040B5}" presName="parentNode1" presStyleLbl="node1" presStyleIdx="2" presStyleCnt="3" custScaleX="142639" custScaleY="74516" custLinFactNeighborX="10569" custLinFactNeighborY="61075">
        <dgm:presLayoutVars>
          <dgm:chMax val="1"/>
          <dgm:bulletEnabled val="1"/>
        </dgm:presLayoutVars>
      </dgm:prSet>
      <dgm:spPr/>
    </dgm:pt>
    <dgm:pt modelId="{1A67D3D9-0FBB-49F6-B7C6-39B851F255AE}" type="pres">
      <dgm:prSet presAssocID="{EB3FE820-9FCD-490A-944A-C8E6F74040B5}" presName="connSite1" presStyleCnt="0"/>
      <dgm:spPr/>
    </dgm:pt>
  </dgm:ptLst>
  <dgm:cxnLst>
    <dgm:cxn modelId="{C7E8AE14-899C-47CD-B127-068DDF3666DB}" srcId="{857DB3F8-3FDF-49D6-86B0-0A1583E3BB32}" destId="{9D1E1A0E-B163-47C9-83F3-2C1867B1CBEA}" srcOrd="1" destOrd="0" parTransId="{84690BA0-B3C0-4914-8E14-9978DDD12B4B}" sibTransId="{D434D7B0-7F1C-414E-A9A3-6D4BACB64EC8}"/>
    <dgm:cxn modelId="{2D84921F-F23C-4B3B-A463-BC957086A822}" type="presOf" srcId="{09B30397-7191-4D61-A1B5-15F873F4A510}" destId="{A6571EB6-CABF-49E2-9717-EC2FA33E9A3F}" srcOrd="0" destOrd="0" presId="urn:microsoft.com/office/officeart/2005/8/layout/hProcess4"/>
    <dgm:cxn modelId="{3A74E523-5A83-480B-838E-BF14B47AF2CA}" type="presOf" srcId="{046BBBFF-5A4E-483F-954F-BAB24EB657D0}" destId="{091324E6-E870-4878-9EB4-A9F86F3EC0F5}" srcOrd="0" destOrd="2" presId="urn:microsoft.com/office/officeart/2005/8/layout/hProcess4"/>
    <dgm:cxn modelId="{118CA43A-3145-4E89-A6B9-7BFC00AEFD25}" type="presOf" srcId="{939DFED2-FC01-4C55-88DA-DFEFF13F5079}" destId="{A6571EB6-CABF-49E2-9717-EC2FA33E9A3F}" srcOrd="0" destOrd="2" presId="urn:microsoft.com/office/officeart/2005/8/layout/hProcess4"/>
    <dgm:cxn modelId="{1BB0A15C-8BD9-4575-A037-A05B9800FE7B}" type="presOf" srcId="{9D1E1A0E-B163-47C9-83F3-2C1867B1CBEA}" destId="{FEB181D5-8B14-44BE-B45C-42B725CB5248}" srcOrd="0" destOrd="0" presId="urn:microsoft.com/office/officeart/2005/8/layout/hProcess4"/>
    <dgm:cxn modelId="{F9431543-F719-4BB0-8DEF-4175A9B296C9}" srcId="{9D1E1A0E-B163-47C9-83F3-2C1867B1CBEA}" destId="{01D4D918-411D-44F0-8D7C-C0E8AFAFB0EF}" srcOrd="1" destOrd="0" parTransId="{493A8AA3-52A8-49F8-898C-2287B0961501}" sibTransId="{4F459EA0-5605-4B9E-A378-FB59C4522C89}"/>
    <dgm:cxn modelId="{35013D65-2D3C-4C85-BD03-914FAD8B1B2F}" srcId="{9D1E1A0E-B163-47C9-83F3-2C1867B1CBEA}" destId="{09B30397-7191-4D61-A1B5-15F873F4A510}" srcOrd="0" destOrd="0" parTransId="{E26A49F7-5A5B-44A6-AA10-74BB2B2CA992}" sibTransId="{30391913-F029-4189-AF36-401FF2A5A6C2}"/>
    <dgm:cxn modelId="{0A0E2169-3125-467B-A57F-1CEE45A0ECE3}" type="presOf" srcId="{7CB8B67C-BFB2-4780-BEFC-B81F8F32D71D}" destId="{781F0C12-5FA6-45E9-8895-2DB66EF81CB0}" srcOrd="1" destOrd="1" presId="urn:microsoft.com/office/officeart/2005/8/layout/hProcess4"/>
    <dgm:cxn modelId="{9258CF6E-BD8A-4E8E-AE81-851CC65F3341}" type="presOf" srcId="{7CB8B67C-BFB2-4780-BEFC-B81F8F32D71D}" destId="{7A29B966-7029-4CB8-82D5-442C7D15045D}" srcOrd="0" destOrd="1" presId="urn:microsoft.com/office/officeart/2005/8/layout/hProcess4"/>
    <dgm:cxn modelId="{A5B26D6F-6FA1-4508-8CFA-31A2E9A4F67B}" type="presOf" srcId="{313467AC-9F4E-4D8C-933B-2A0C8960EF3C}" destId="{7A29B966-7029-4CB8-82D5-442C7D15045D}" srcOrd="0" destOrd="2" presId="urn:microsoft.com/office/officeart/2005/8/layout/hProcess4"/>
    <dgm:cxn modelId="{09AA4153-F5AA-4ECE-98B5-894071D8F20B}" srcId="{EB3FE820-9FCD-490A-944A-C8E6F74040B5}" destId="{046BBBFF-5A4E-483F-954F-BAB24EB657D0}" srcOrd="2" destOrd="0" parTransId="{41FDE880-22EC-486B-AA6A-D0CB45693693}" sibTransId="{AC5EBB53-A6BD-4623-B971-2025DD996EA1}"/>
    <dgm:cxn modelId="{85B5D773-659E-4DBC-BE97-DAE191A672A3}" type="presOf" srcId="{09B30397-7191-4D61-A1B5-15F873F4A510}" destId="{81DE507C-44D3-466E-B75B-9E60531B8D1D}" srcOrd="1" destOrd="0" presId="urn:microsoft.com/office/officeart/2005/8/layout/hProcess4"/>
    <dgm:cxn modelId="{245FCA58-2BFD-46F5-802B-E1E5A3487018}" srcId="{AAD1A29A-8346-43F8-966B-100D16C65677}" destId="{313467AC-9F4E-4D8C-933B-2A0C8960EF3C}" srcOrd="2" destOrd="0" parTransId="{6CB8CBE4-D043-41EE-BE5C-1E7205986449}" sibTransId="{7A4D93C0-DA60-4FFD-BB20-066436A1E72A}"/>
    <dgm:cxn modelId="{34483981-8201-4B07-AE9A-E2D3EB22BB0D}" type="presOf" srcId="{B9B19269-2A45-4CD9-A26E-F7396655F7B4}" destId="{091324E6-E870-4878-9EB4-A9F86F3EC0F5}" srcOrd="0" destOrd="0" presId="urn:microsoft.com/office/officeart/2005/8/layout/hProcess4"/>
    <dgm:cxn modelId="{C0069897-5142-4215-8FD0-6FD65F91746D}" srcId="{9D1E1A0E-B163-47C9-83F3-2C1867B1CBEA}" destId="{939DFED2-FC01-4C55-88DA-DFEFF13F5079}" srcOrd="2" destOrd="0" parTransId="{EAFF2482-35CF-48AF-B340-53D8A374E18C}" sibTransId="{3BEB26C5-D4F3-4593-A19D-93408A229126}"/>
    <dgm:cxn modelId="{7436AD9C-EA19-461A-94C7-F3C42965E8A9}" srcId="{857DB3F8-3FDF-49D6-86B0-0A1583E3BB32}" destId="{AAD1A29A-8346-43F8-966B-100D16C65677}" srcOrd="0" destOrd="0" parTransId="{5A669751-3606-427B-BE29-3AF4B602DB63}" sibTransId="{3F3D681C-A85B-4F32-9194-AFBB8F072342}"/>
    <dgm:cxn modelId="{6722279E-95B1-44E4-B3B6-994AAFE3CB39}" type="presOf" srcId="{D03E8220-D634-4DCD-BD20-E309189A9BF3}" destId="{091324E6-E870-4878-9EB4-A9F86F3EC0F5}" srcOrd="0" destOrd="1" presId="urn:microsoft.com/office/officeart/2005/8/layout/hProcess4"/>
    <dgm:cxn modelId="{106E14A7-6F84-4BF4-90F8-7281E572D728}" type="presOf" srcId="{939DFED2-FC01-4C55-88DA-DFEFF13F5079}" destId="{81DE507C-44D3-466E-B75B-9E60531B8D1D}" srcOrd="1" destOrd="2" presId="urn:microsoft.com/office/officeart/2005/8/layout/hProcess4"/>
    <dgm:cxn modelId="{F43E72A7-A6C7-4842-91F5-66E6282C6EFF}" type="presOf" srcId="{313467AC-9F4E-4D8C-933B-2A0C8960EF3C}" destId="{781F0C12-5FA6-45E9-8895-2DB66EF81CB0}" srcOrd="1" destOrd="2" presId="urn:microsoft.com/office/officeart/2005/8/layout/hProcess4"/>
    <dgm:cxn modelId="{8B37D3AA-1997-4217-A626-5B613054BBEE}" type="presOf" srcId="{D03E8220-D634-4DCD-BD20-E309189A9BF3}" destId="{AABD9115-BB94-4AFF-AD8C-2838C2DC4980}" srcOrd="1" destOrd="1" presId="urn:microsoft.com/office/officeart/2005/8/layout/hProcess4"/>
    <dgm:cxn modelId="{CAE988AE-8B72-474E-8061-78402A59BAD1}" srcId="{AAD1A29A-8346-43F8-966B-100D16C65677}" destId="{96F12058-8C29-406A-BF1B-070CC97101A9}" srcOrd="0" destOrd="0" parTransId="{0ECDE566-1E52-4E94-8C52-B3D3B7C9C080}" sibTransId="{877E82AD-A5A5-47A5-9A0C-8FF7BF1870D0}"/>
    <dgm:cxn modelId="{C79691B9-53A0-46C9-AA05-072479D422A2}" type="presOf" srcId="{AAD1A29A-8346-43F8-966B-100D16C65677}" destId="{99D66295-647F-49B7-9BCD-2A316B936AB9}" srcOrd="0" destOrd="0" presId="urn:microsoft.com/office/officeart/2005/8/layout/hProcess4"/>
    <dgm:cxn modelId="{668351BB-CCA0-4279-8BEA-A67C30DA7FD7}" type="presOf" srcId="{046BBBFF-5A4E-483F-954F-BAB24EB657D0}" destId="{AABD9115-BB94-4AFF-AD8C-2838C2DC4980}" srcOrd="1" destOrd="2" presId="urn:microsoft.com/office/officeart/2005/8/layout/hProcess4"/>
    <dgm:cxn modelId="{70C91CC6-5FD9-47FF-A762-E1D370EB1A64}" srcId="{857DB3F8-3FDF-49D6-86B0-0A1583E3BB32}" destId="{EB3FE820-9FCD-490A-944A-C8E6F74040B5}" srcOrd="2" destOrd="0" parTransId="{25F6CCBF-740A-4ADA-AD55-27F43FFA5FD7}" sibTransId="{C51D4D39-A86E-45ED-BA4C-5FE89CAD55B4}"/>
    <dgm:cxn modelId="{932056D0-A583-4968-A0F6-397C5833DB6E}" type="presOf" srcId="{96F12058-8C29-406A-BF1B-070CC97101A9}" destId="{781F0C12-5FA6-45E9-8895-2DB66EF81CB0}" srcOrd="1" destOrd="0" presId="urn:microsoft.com/office/officeart/2005/8/layout/hProcess4"/>
    <dgm:cxn modelId="{707779D0-0D03-4EA5-8DD2-C0BAB2C39059}" type="presOf" srcId="{3F3D681C-A85B-4F32-9194-AFBB8F072342}" destId="{87D54154-9D6D-4FA7-8E04-32FA20E105CD}" srcOrd="0" destOrd="0" presId="urn:microsoft.com/office/officeart/2005/8/layout/hProcess4"/>
    <dgm:cxn modelId="{F5CA7FD5-24B3-47F3-8FFA-2A5443141D4D}" srcId="{EB3FE820-9FCD-490A-944A-C8E6F74040B5}" destId="{D03E8220-D634-4DCD-BD20-E309189A9BF3}" srcOrd="1" destOrd="0" parTransId="{C8B458DC-B395-405D-806E-C4AC09CA074D}" sibTransId="{6DF7A458-8CC5-4EED-86F1-4DF7D17FD015}"/>
    <dgm:cxn modelId="{A7FB17DA-E642-4550-83DC-5790986DA50C}" type="presOf" srcId="{96F12058-8C29-406A-BF1B-070CC97101A9}" destId="{7A29B966-7029-4CB8-82D5-442C7D15045D}" srcOrd="0" destOrd="0" presId="urn:microsoft.com/office/officeart/2005/8/layout/hProcess4"/>
    <dgm:cxn modelId="{05D8F5DB-4F10-41DF-AA50-FF808AFD1838}" srcId="{AAD1A29A-8346-43F8-966B-100D16C65677}" destId="{7CB8B67C-BFB2-4780-BEFC-B81F8F32D71D}" srcOrd="1" destOrd="0" parTransId="{01D27D16-39BB-49F4-91A5-F27E96D7B8F0}" sibTransId="{9EBBFE76-D9D4-47F7-800F-0FF54E71A4A0}"/>
    <dgm:cxn modelId="{B7186FE3-F83D-4D92-B3EF-2D066C8CEFA0}" type="presOf" srcId="{857DB3F8-3FDF-49D6-86B0-0A1583E3BB32}" destId="{9A61FF3A-5F7A-4CDC-9203-A7E6B1DA98F6}" srcOrd="0" destOrd="0" presId="urn:microsoft.com/office/officeart/2005/8/layout/hProcess4"/>
    <dgm:cxn modelId="{BAE97EE4-AC5A-463E-8F29-AD201AE9E764}" type="presOf" srcId="{01D4D918-411D-44F0-8D7C-C0E8AFAFB0EF}" destId="{A6571EB6-CABF-49E2-9717-EC2FA33E9A3F}" srcOrd="0" destOrd="1" presId="urn:microsoft.com/office/officeart/2005/8/layout/hProcess4"/>
    <dgm:cxn modelId="{4024BDE8-D465-44DE-8B01-A4E62888A611}" type="presOf" srcId="{EB3FE820-9FCD-490A-944A-C8E6F74040B5}" destId="{5CB7F362-58CA-4DB3-BAFE-F16CC2EBEBE6}" srcOrd="0" destOrd="0" presId="urn:microsoft.com/office/officeart/2005/8/layout/hProcess4"/>
    <dgm:cxn modelId="{CB273AEB-677D-4CE4-8BE8-334BAE98C1BA}" type="presOf" srcId="{01D4D918-411D-44F0-8D7C-C0E8AFAFB0EF}" destId="{81DE507C-44D3-466E-B75B-9E60531B8D1D}" srcOrd="1" destOrd="1" presId="urn:microsoft.com/office/officeart/2005/8/layout/hProcess4"/>
    <dgm:cxn modelId="{59553EEE-4929-4715-AA04-61159F446211}" srcId="{EB3FE820-9FCD-490A-944A-C8E6F74040B5}" destId="{B9B19269-2A45-4CD9-A26E-F7396655F7B4}" srcOrd="0" destOrd="0" parTransId="{14C191AD-98E4-4B26-8230-18790E52EFA4}" sibTransId="{7852F944-C527-41D0-8089-53C8362F1081}"/>
    <dgm:cxn modelId="{0C8B5CEF-660D-45CF-A24A-412F6EACBE47}" type="presOf" srcId="{B9B19269-2A45-4CD9-A26E-F7396655F7B4}" destId="{AABD9115-BB94-4AFF-AD8C-2838C2DC4980}" srcOrd="1" destOrd="0" presId="urn:microsoft.com/office/officeart/2005/8/layout/hProcess4"/>
    <dgm:cxn modelId="{A04B1FF6-3B6F-43DC-93B9-298F765A3770}" type="presOf" srcId="{D434D7B0-7F1C-414E-A9A3-6D4BACB64EC8}" destId="{6F716DE0-3BBD-47E6-B411-026A4D9120FF}" srcOrd="0" destOrd="0" presId="urn:microsoft.com/office/officeart/2005/8/layout/hProcess4"/>
    <dgm:cxn modelId="{5EBEEB33-8823-481E-86D0-426D3E1FDA77}" type="presParOf" srcId="{9A61FF3A-5F7A-4CDC-9203-A7E6B1DA98F6}" destId="{2BF633C7-695B-4EB8-8C3F-4EE4783D35B0}" srcOrd="0" destOrd="0" presId="urn:microsoft.com/office/officeart/2005/8/layout/hProcess4"/>
    <dgm:cxn modelId="{2628061A-BFC7-4CDD-800F-AB943F3CC433}" type="presParOf" srcId="{9A61FF3A-5F7A-4CDC-9203-A7E6B1DA98F6}" destId="{DAA59C07-8017-4A3C-B585-CE549AB4F6D6}" srcOrd="1" destOrd="0" presId="urn:microsoft.com/office/officeart/2005/8/layout/hProcess4"/>
    <dgm:cxn modelId="{E56C0BE1-455A-4DEA-8896-85387492BCB1}" type="presParOf" srcId="{9A61FF3A-5F7A-4CDC-9203-A7E6B1DA98F6}" destId="{D9BEE1F0-2680-410A-A7C4-0D8DE4CFF363}" srcOrd="2" destOrd="0" presId="urn:microsoft.com/office/officeart/2005/8/layout/hProcess4"/>
    <dgm:cxn modelId="{6340F030-86AA-4B01-A9C2-A57496F10C4A}" type="presParOf" srcId="{D9BEE1F0-2680-410A-A7C4-0D8DE4CFF363}" destId="{73CED885-76A9-46F4-A428-B8BF386ACCCF}" srcOrd="0" destOrd="0" presId="urn:microsoft.com/office/officeart/2005/8/layout/hProcess4"/>
    <dgm:cxn modelId="{863C4C4E-84D6-4A74-A54C-9B1870A357F0}" type="presParOf" srcId="{73CED885-76A9-46F4-A428-B8BF386ACCCF}" destId="{92582D92-F7E0-4058-8253-ACF186850FA0}" srcOrd="0" destOrd="0" presId="urn:microsoft.com/office/officeart/2005/8/layout/hProcess4"/>
    <dgm:cxn modelId="{C316F4FD-66F6-44E4-8700-3CF686EA947D}" type="presParOf" srcId="{73CED885-76A9-46F4-A428-B8BF386ACCCF}" destId="{7A29B966-7029-4CB8-82D5-442C7D15045D}" srcOrd="1" destOrd="0" presId="urn:microsoft.com/office/officeart/2005/8/layout/hProcess4"/>
    <dgm:cxn modelId="{5654FD8B-9323-4F52-B3BA-5E5A5EAFACCC}" type="presParOf" srcId="{73CED885-76A9-46F4-A428-B8BF386ACCCF}" destId="{781F0C12-5FA6-45E9-8895-2DB66EF81CB0}" srcOrd="2" destOrd="0" presId="urn:microsoft.com/office/officeart/2005/8/layout/hProcess4"/>
    <dgm:cxn modelId="{9A1B94CF-E60A-4384-9E6E-F59B04FC4C8C}" type="presParOf" srcId="{73CED885-76A9-46F4-A428-B8BF386ACCCF}" destId="{99D66295-647F-49B7-9BCD-2A316B936AB9}" srcOrd="3" destOrd="0" presId="urn:microsoft.com/office/officeart/2005/8/layout/hProcess4"/>
    <dgm:cxn modelId="{2AC5B994-ECFA-4FA0-A758-483196E332B1}" type="presParOf" srcId="{73CED885-76A9-46F4-A428-B8BF386ACCCF}" destId="{447E1CCD-C2D9-413F-BF5C-E483D245EC76}" srcOrd="4" destOrd="0" presId="urn:microsoft.com/office/officeart/2005/8/layout/hProcess4"/>
    <dgm:cxn modelId="{0D74BAB8-FF17-4BA2-874A-AF4B90641148}" type="presParOf" srcId="{D9BEE1F0-2680-410A-A7C4-0D8DE4CFF363}" destId="{87D54154-9D6D-4FA7-8E04-32FA20E105CD}" srcOrd="1" destOrd="0" presId="urn:microsoft.com/office/officeart/2005/8/layout/hProcess4"/>
    <dgm:cxn modelId="{EFE854F8-4CD9-4FCC-96CB-4640276B983B}" type="presParOf" srcId="{D9BEE1F0-2680-410A-A7C4-0D8DE4CFF363}" destId="{6454FEB7-C983-4572-89A0-53A875EE4373}" srcOrd="2" destOrd="0" presId="urn:microsoft.com/office/officeart/2005/8/layout/hProcess4"/>
    <dgm:cxn modelId="{10289C01-7E0C-4524-A600-D766687E7A46}" type="presParOf" srcId="{6454FEB7-C983-4572-89A0-53A875EE4373}" destId="{328BCE6D-5E2F-4C22-AC2E-DF7C06F90D01}" srcOrd="0" destOrd="0" presId="urn:microsoft.com/office/officeart/2005/8/layout/hProcess4"/>
    <dgm:cxn modelId="{3635A92A-63E1-405C-A343-CA4EEEB5DE11}" type="presParOf" srcId="{6454FEB7-C983-4572-89A0-53A875EE4373}" destId="{A6571EB6-CABF-49E2-9717-EC2FA33E9A3F}" srcOrd="1" destOrd="0" presId="urn:microsoft.com/office/officeart/2005/8/layout/hProcess4"/>
    <dgm:cxn modelId="{A078833D-644E-483B-B852-17F0A048C90B}" type="presParOf" srcId="{6454FEB7-C983-4572-89A0-53A875EE4373}" destId="{81DE507C-44D3-466E-B75B-9E60531B8D1D}" srcOrd="2" destOrd="0" presId="urn:microsoft.com/office/officeart/2005/8/layout/hProcess4"/>
    <dgm:cxn modelId="{4214D3DA-8656-4648-B356-840C42B4EF0B}" type="presParOf" srcId="{6454FEB7-C983-4572-89A0-53A875EE4373}" destId="{FEB181D5-8B14-44BE-B45C-42B725CB5248}" srcOrd="3" destOrd="0" presId="urn:microsoft.com/office/officeart/2005/8/layout/hProcess4"/>
    <dgm:cxn modelId="{4763FEC7-68AF-46E6-A11F-56A41BED4494}" type="presParOf" srcId="{6454FEB7-C983-4572-89A0-53A875EE4373}" destId="{72D670DE-A6FE-498E-AFF3-017F771DDE4C}" srcOrd="4" destOrd="0" presId="urn:microsoft.com/office/officeart/2005/8/layout/hProcess4"/>
    <dgm:cxn modelId="{F38B1BF6-6D23-49D1-B33F-E712DF36AB78}" type="presParOf" srcId="{D9BEE1F0-2680-410A-A7C4-0D8DE4CFF363}" destId="{6F716DE0-3BBD-47E6-B411-026A4D9120FF}" srcOrd="3" destOrd="0" presId="urn:microsoft.com/office/officeart/2005/8/layout/hProcess4"/>
    <dgm:cxn modelId="{927B6C73-692E-42E8-B79A-C945B5E105AA}" type="presParOf" srcId="{D9BEE1F0-2680-410A-A7C4-0D8DE4CFF363}" destId="{1DA31EF2-22D4-4B87-9A1A-85FF39EAB95D}" srcOrd="4" destOrd="0" presId="urn:microsoft.com/office/officeart/2005/8/layout/hProcess4"/>
    <dgm:cxn modelId="{38080146-499A-4032-9264-0BEA665A569D}" type="presParOf" srcId="{1DA31EF2-22D4-4B87-9A1A-85FF39EAB95D}" destId="{88F93508-6E3E-4BDC-ADF5-7E548E8970DB}" srcOrd="0" destOrd="0" presId="urn:microsoft.com/office/officeart/2005/8/layout/hProcess4"/>
    <dgm:cxn modelId="{6BB64A7D-674B-4D5F-A990-D6FE110DDBDD}" type="presParOf" srcId="{1DA31EF2-22D4-4B87-9A1A-85FF39EAB95D}" destId="{091324E6-E870-4878-9EB4-A9F86F3EC0F5}" srcOrd="1" destOrd="0" presId="urn:microsoft.com/office/officeart/2005/8/layout/hProcess4"/>
    <dgm:cxn modelId="{D0B68A68-6570-462A-B1D5-E6AF445CE79B}" type="presParOf" srcId="{1DA31EF2-22D4-4B87-9A1A-85FF39EAB95D}" destId="{AABD9115-BB94-4AFF-AD8C-2838C2DC4980}" srcOrd="2" destOrd="0" presId="urn:microsoft.com/office/officeart/2005/8/layout/hProcess4"/>
    <dgm:cxn modelId="{1C22ED66-F05B-49D4-86AE-9FCAEAA4B5D9}" type="presParOf" srcId="{1DA31EF2-22D4-4B87-9A1A-85FF39EAB95D}" destId="{5CB7F362-58CA-4DB3-BAFE-F16CC2EBEBE6}" srcOrd="3" destOrd="0" presId="urn:microsoft.com/office/officeart/2005/8/layout/hProcess4"/>
    <dgm:cxn modelId="{E843C634-0661-4067-A61B-8CB6630836DA}" type="presParOf" srcId="{1DA31EF2-22D4-4B87-9A1A-85FF39EAB95D}" destId="{1A67D3D9-0FBB-49F6-B7C6-39B851F255A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BFA709-6198-4577-85BF-F54EDB6D2BA3}" type="doc">
      <dgm:prSet loTypeId="urn:microsoft.com/office/officeart/2005/8/layout/hLis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7A7488-1419-4A5B-9237-685A8E1C9DED}">
      <dgm:prSet phldrT="[Text]"/>
      <dgm:spPr/>
      <dgm:t>
        <a:bodyPr/>
        <a:lstStyle/>
        <a:p>
          <a:pPr>
            <a:buNone/>
          </a:pPr>
          <a:r>
            <a:rPr lang="en-IN" dirty="0"/>
            <a:t>Existing Approach</a:t>
          </a:r>
        </a:p>
      </dgm:t>
    </dgm:pt>
    <dgm:pt modelId="{E3334A57-0E03-4BC6-921D-C31EC773036E}" type="parTrans" cxnId="{DC1FFA28-0FD7-442C-9241-072D571E0ED3}">
      <dgm:prSet/>
      <dgm:spPr/>
      <dgm:t>
        <a:bodyPr/>
        <a:lstStyle/>
        <a:p>
          <a:endParaRPr lang="en-IN"/>
        </a:p>
      </dgm:t>
    </dgm:pt>
    <dgm:pt modelId="{4523B65E-CD36-4B24-BC0C-49499E7BC00A}" type="sibTrans" cxnId="{DC1FFA28-0FD7-442C-9241-072D571E0ED3}">
      <dgm:prSet/>
      <dgm:spPr/>
      <dgm:t>
        <a:bodyPr/>
        <a:lstStyle/>
        <a:p>
          <a:endParaRPr lang="en-IN"/>
        </a:p>
      </dgm:t>
    </dgm:pt>
    <dgm:pt modelId="{F676E578-35A5-4DBB-8101-148EA42E24F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b="1" dirty="0"/>
            <a:t>Industrial Symbiosis:</a:t>
          </a:r>
          <a:r>
            <a:rPr lang="en-IN" sz="1300" dirty="0"/>
            <a:t> </a:t>
          </a:r>
          <a:r>
            <a:rPr lang="en-IN" sz="1300" dirty="0" err="1"/>
            <a:t>Neighboring</a:t>
          </a:r>
          <a:r>
            <a:rPr lang="en-IN" sz="1300" dirty="0"/>
            <a:t> industrial plants share steam and process water manually under static contracts (e.g., </a:t>
          </a:r>
          <a:r>
            <a:rPr lang="en-IN" sz="1300" dirty="0" err="1"/>
            <a:t>Kalundborg</a:t>
          </a:r>
          <a:r>
            <a:rPr lang="en-IN" sz="1300" dirty="0"/>
            <a:t>).</a:t>
          </a:r>
        </a:p>
      </dgm:t>
    </dgm:pt>
    <dgm:pt modelId="{ED0CBB89-847D-4407-865A-8360CC547D2B}" type="parTrans" cxnId="{B2C20479-9138-42A5-9CE1-A4B02F1A6C93}">
      <dgm:prSet/>
      <dgm:spPr/>
      <dgm:t>
        <a:bodyPr/>
        <a:lstStyle/>
        <a:p>
          <a:endParaRPr lang="en-IN"/>
        </a:p>
      </dgm:t>
    </dgm:pt>
    <dgm:pt modelId="{BC79144C-38C3-4AAA-9932-A9EB80FEB567}" type="sibTrans" cxnId="{B2C20479-9138-42A5-9CE1-A4B02F1A6C93}">
      <dgm:prSet/>
      <dgm:spPr/>
      <dgm:t>
        <a:bodyPr/>
        <a:lstStyle/>
        <a:p>
          <a:endParaRPr lang="en-IN"/>
        </a:p>
      </dgm:t>
    </dgm:pt>
    <dgm:pt modelId="{CB944499-1EAF-47B3-AF0F-24FE4BBEA099}">
      <dgm:prSet phldrT="[Text]"/>
      <dgm:spPr/>
      <dgm:t>
        <a:bodyPr/>
        <a:lstStyle/>
        <a:p>
          <a:pPr>
            <a:buNone/>
          </a:pPr>
          <a:r>
            <a:rPr lang="en-IN" dirty="0"/>
            <a:t>What It Does Today</a:t>
          </a:r>
        </a:p>
      </dgm:t>
    </dgm:pt>
    <dgm:pt modelId="{9667C5B4-F997-4FC4-B776-6F53D1269384}" type="parTrans" cxnId="{5442B10D-05AB-4A85-A52C-8B7695071E55}">
      <dgm:prSet/>
      <dgm:spPr/>
      <dgm:t>
        <a:bodyPr/>
        <a:lstStyle/>
        <a:p>
          <a:endParaRPr lang="en-IN"/>
        </a:p>
      </dgm:t>
    </dgm:pt>
    <dgm:pt modelId="{AF6180A9-D33D-4DCF-8E7F-B607BAA75BC8}" type="sibTrans" cxnId="{5442B10D-05AB-4A85-A52C-8B7695071E55}">
      <dgm:prSet/>
      <dgm:spPr/>
      <dgm:t>
        <a:bodyPr/>
        <a:lstStyle/>
        <a:p>
          <a:endParaRPr lang="en-IN"/>
        </a:p>
      </dgm:t>
    </dgm:pt>
    <dgm:pt modelId="{09B90F2B-480A-4B8C-9C7D-B0FCC8DBC3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Static Bulk Transfer:</a:t>
          </a:r>
          <a:r>
            <a:rPr lang="en-IN" dirty="0"/>
            <a:t> Offloads waste heat through fixed piping networks, governed by rigid multi-year agreements.</a:t>
          </a:r>
        </a:p>
      </dgm:t>
    </dgm:pt>
    <dgm:pt modelId="{BCC7B5AC-732C-4A8F-A3DD-D7728F3F1DD7}" type="parTrans" cxnId="{0C9316E6-9C8B-40C0-9D0D-4C6937C7E8A5}">
      <dgm:prSet/>
      <dgm:spPr/>
      <dgm:t>
        <a:bodyPr/>
        <a:lstStyle/>
        <a:p>
          <a:endParaRPr lang="en-IN"/>
        </a:p>
      </dgm:t>
    </dgm:pt>
    <dgm:pt modelId="{82EB463E-3525-493C-A06F-436C75EA7825}" type="sibTrans" cxnId="{0C9316E6-9C8B-40C0-9D0D-4C6937C7E8A5}">
      <dgm:prSet/>
      <dgm:spPr/>
      <dgm:t>
        <a:bodyPr/>
        <a:lstStyle/>
        <a:p>
          <a:endParaRPr lang="en-IN"/>
        </a:p>
      </dgm:t>
    </dgm:pt>
    <dgm:pt modelId="{E37B6441-4EDE-4209-903F-5ADCCEEC7F9A}">
      <dgm:prSet phldrT="[Text]"/>
      <dgm:spPr/>
      <dgm:t>
        <a:bodyPr/>
        <a:lstStyle/>
        <a:p>
          <a:pPr>
            <a:buNone/>
          </a:pPr>
          <a:r>
            <a:rPr lang="en-IN" dirty="0"/>
            <a:t>The Gap</a:t>
          </a:r>
        </a:p>
      </dgm:t>
    </dgm:pt>
    <dgm:pt modelId="{EFA95F85-E7F2-4655-AEF1-2E4CBFEDB926}" type="parTrans" cxnId="{74D04113-E82C-49EF-A2AF-31F2C1378910}">
      <dgm:prSet/>
      <dgm:spPr/>
      <dgm:t>
        <a:bodyPr/>
        <a:lstStyle/>
        <a:p>
          <a:endParaRPr lang="en-IN"/>
        </a:p>
      </dgm:t>
    </dgm:pt>
    <dgm:pt modelId="{1049AB8F-2B03-4735-BD80-DC12D64129F4}" type="sibTrans" cxnId="{74D04113-E82C-49EF-A2AF-31F2C1378910}">
      <dgm:prSet/>
      <dgm:spPr/>
      <dgm:t>
        <a:bodyPr/>
        <a:lstStyle/>
        <a:p>
          <a:endParaRPr lang="en-IN"/>
        </a:p>
      </dgm:t>
    </dgm:pt>
    <dgm:pt modelId="{FF22483C-2B0A-4896-9BF5-13ED9E2CAE1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Incapable of Dynamic AI Response:</a:t>
          </a:r>
          <a:r>
            <a:rPr lang="en-IN" dirty="0"/>
            <a:t> Zero real-time synchronization with sudden, second-by-second GPU compute workload bursts.</a:t>
          </a:r>
        </a:p>
      </dgm:t>
    </dgm:pt>
    <dgm:pt modelId="{DE07AEC7-68A7-420D-9925-143C642FAFA0}" type="parTrans" cxnId="{D9BB3B9F-2A0B-432C-8511-377DA249A7F4}">
      <dgm:prSet/>
      <dgm:spPr/>
      <dgm:t>
        <a:bodyPr/>
        <a:lstStyle/>
        <a:p>
          <a:endParaRPr lang="en-IN"/>
        </a:p>
      </dgm:t>
    </dgm:pt>
    <dgm:pt modelId="{55ACCAB6-B00E-421F-8C28-9E3E56D60AA1}" type="sibTrans" cxnId="{D9BB3B9F-2A0B-432C-8511-377DA249A7F4}">
      <dgm:prSet/>
      <dgm:spPr/>
      <dgm:t>
        <a:bodyPr/>
        <a:lstStyle/>
        <a:p>
          <a:endParaRPr lang="en-IN"/>
        </a:p>
      </dgm:t>
    </dgm:pt>
    <dgm:pt modelId="{97B2E09A-EBD6-49C9-8737-40AFA404AF2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b="1" dirty="0"/>
            <a:t>Internal Facility AI:</a:t>
          </a:r>
          <a:r>
            <a:rPr lang="en-IN" sz="1300" dirty="0"/>
            <a:t> Machine learning algorithms trim chiller power and fan speeds strictly inside the data </a:t>
          </a:r>
          <a:r>
            <a:rPr lang="en-IN" sz="1300" dirty="0" err="1"/>
            <a:t>center</a:t>
          </a:r>
          <a:r>
            <a:rPr lang="en-IN" sz="1300" dirty="0"/>
            <a:t> (e.g., DeepMind).</a:t>
          </a:r>
        </a:p>
      </dgm:t>
    </dgm:pt>
    <dgm:pt modelId="{49156C5F-347E-4FF7-BD9C-5BF761FE49DF}" type="parTrans" cxnId="{BE32441A-7431-4FE1-A607-8F284E41B695}">
      <dgm:prSet/>
      <dgm:spPr/>
      <dgm:t>
        <a:bodyPr/>
        <a:lstStyle/>
        <a:p>
          <a:endParaRPr lang="en-IN"/>
        </a:p>
      </dgm:t>
    </dgm:pt>
    <dgm:pt modelId="{71E91E84-ABB7-4ACF-83D2-A1FBDC07BED7}" type="sibTrans" cxnId="{BE32441A-7431-4FE1-A607-8F284E41B695}">
      <dgm:prSet/>
      <dgm:spPr/>
      <dgm:t>
        <a:bodyPr/>
        <a:lstStyle/>
        <a:p>
          <a:endParaRPr lang="en-IN"/>
        </a:p>
      </dgm:t>
    </dgm:pt>
    <dgm:pt modelId="{1F417D18-DEF0-407C-907A-321268B36C4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b="1" dirty="0"/>
            <a:t>Standalone Hardware:</a:t>
          </a:r>
          <a:r>
            <a:rPr lang="en-IN" sz="1300" dirty="0"/>
            <a:t> Fixed absorption chillers and condensers installed without networked software intelligence</a:t>
          </a:r>
        </a:p>
      </dgm:t>
    </dgm:pt>
    <dgm:pt modelId="{8A919D93-7715-43C2-A82E-76BD58BA57D6}" type="parTrans" cxnId="{B66C12BC-CD71-422C-B17A-B83133D9C1BC}">
      <dgm:prSet/>
      <dgm:spPr/>
      <dgm:t>
        <a:bodyPr/>
        <a:lstStyle/>
        <a:p>
          <a:endParaRPr lang="en-IN"/>
        </a:p>
      </dgm:t>
    </dgm:pt>
    <dgm:pt modelId="{3EEC328B-312B-43BC-B29E-5CDA211B7AFA}" type="sibTrans" cxnId="{B66C12BC-CD71-422C-B17A-B83133D9C1BC}">
      <dgm:prSet/>
      <dgm:spPr/>
      <dgm:t>
        <a:bodyPr/>
        <a:lstStyle/>
        <a:p>
          <a:endParaRPr lang="en-IN"/>
        </a:p>
      </dgm:t>
    </dgm:pt>
    <dgm:pt modelId="{EB5C23D0-9B74-4C69-ACDD-72BF596049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Inside-the-Fence Tuning:</a:t>
          </a:r>
          <a:r>
            <a:rPr lang="en-IN" dirty="0"/>
            <a:t> Lowers internal PUE by reacting only to thermal sensors placed on internal server racks.</a:t>
          </a:r>
        </a:p>
      </dgm:t>
    </dgm:pt>
    <dgm:pt modelId="{D74605D3-DB6B-4DBE-836D-7A1FD30A437C}" type="parTrans" cxnId="{48C558E4-F28C-43D5-9DFA-4EF6251E9A71}">
      <dgm:prSet/>
      <dgm:spPr/>
      <dgm:t>
        <a:bodyPr/>
        <a:lstStyle/>
        <a:p>
          <a:endParaRPr lang="en-IN"/>
        </a:p>
      </dgm:t>
    </dgm:pt>
    <dgm:pt modelId="{22FCFAFE-2D71-428D-8EC1-B25364498290}" type="sibTrans" cxnId="{48C558E4-F28C-43D5-9DFA-4EF6251E9A71}">
      <dgm:prSet/>
      <dgm:spPr/>
      <dgm:t>
        <a:bodyPr/>
        <a:lstStyle/>
        <a:p>
          <a:endParaRPr lang="en-IN"/>
        </a:p>
      </dgm:t>
    </dgm:pt>
    <dgm:pt modelId="{39701B77-78AE-4DAC-ABAD-F640E960A1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Manual Mechanical Conversion:</a:t>
          </a:r>
          <a:r>
            <a:rPr lang="en-IN" dirty="0"/>
            <a:t> Thermally converts continuous heat streams to cold water at fixed design setpoints.</a:t>
          </a:r>
        </a:p>
      </dgm:t>
    </dgm:pt>
    <dgm:pt modelId="{0ED3B2D3-D2D3-4B79-B5D9-8F1FE54746AE}" type="parTrans" cxnId="{A722CBEC-61FE-4CDC-8F9B-ADBDE3E6001F}">
      <dgm:prSet/>
      <dgm:spPr/>
      <dgm:t>
        <a:bodyPr/>
        <a:lstStyle/>
        <a:p>
          <a:endParaRPr lang="en-IN"/>
        </a:p>
      </dgm:t>
    </dgm:pt>
    <dgm:pt modelId="{F95B71B6-85EE-4348-B9A6-3B25AE37A9EC}" type="sibTrans" cxnId="{A722CBEC-61FE-4CDC-8F9B-ADBDE3E6001F}">
      <dgm:prSet/>
      <dgm:spPr/>
      <dgm:t>
        <a:bodyPr/>
        <a:lstStyle/>
        <a:p>
          <a:endParaRPr lang="en-IN"/>
        </a:p>
      </dgm:t>
    </dgm:pt>
    <dgm:pt modelId="{23DD210F-9B7A-437C-AE83-BE11E74845D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/>
            <a:t>Ignores External Assets:</a:t>
          </a:r>
          <a:r>
            <a:rPr lang="en-IN"/>
            <a:t> Trapped inside facility walls—remains 100% dependent on expensive grid power and local city water.</a:t>
          </a:r>
        </a:p>
      </dgm:t>
    </dgm:pt>
    <dgm:pt modelId="{2647C520-F5AD-452A-AEEF-FC8B97264876}" type="parTrans" cxnId="{C2F36D15-7268-406A-8B4C-1B279217309E}">
      <dgm:prSet/>
      <dgm:spPr/>
      <dgm:t>
        <a:bodyPr/>
        <a:lstStyle/>
        <a:p>
          <a:endParaRPr lang="en-IN"/>
        </a:p>
      </dgm:t>
    </dgm:pt>
    <dgm:pt modelId="{D3D1A1F5-AC57-4349-B699-77F4298737F1}" type="sibTrans" cxnId="{C2F36D15-7268-406A-8B4C-1B279217309E}">
      <dgm:prSet/>
      <dgm:spPr/>
      <dgm:t>
        <a:bodyPr/>
        <a:lstStyle/>
        <a:p>
          <a:endParaRPr lang="en-IN"/>
        </a:p>
      </dgm:t>
    </dgm:pt>
    <dgm:pt modelId="{6287B31A-840A-428E-BFF8-B59203ADE90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No Cyber-Physical Brain:</a:t>
          </a:r>
          <a:r>
            <a:rPr lang="en-IN" dirty="0"/>
            <a:t> Lacks predictive forecasting, dynamic dispatch, and zero-trust security between industrial OT and IT.</a:t>
          </a:r>
        </a:p>
      </dgm:t>
    </dgm:pt>
    <dgm:pt modelId="{2855ECDF-FE7B-4FF3-8999-915686DE12DD}" type="parTrans" cxnId="{DF9492E7-04C7-417C-AD7C-99956E243E6B}">
      <dgm:prSet/>
      <dgm:spPr/>
      <dgm:t>
        <a:bodyPr/>
        <a:lstStyle/>
        <a:p>
          <a:endParaRPr lang="en-IN"/>
        </a:p>
      </dgm:t>
    </dgm:pt>
    <dgm:pt modelId="{E621F15C-4510-4043-92D6-9F787BB21D42}" type="sibTrans" cxnId="{DF9492E7-04C7-417C-AD7C-99956E243E6B}">
      <dgm:prSet/>
      <dgm:spPr/>
      <dgm:t>
        <a:bodyPr/>
        <a:lstStyle/>
        <a:p>
          <a:endParaRPr lang="en-IN"/>
        </a:p>
      </dgm:t>
    </dgm:pt>
    <dgm:pt modelId="{26B7A430-4BB2-438B-9E99-232071ED5F9B}" type="pres">
      <dgm:prSet presAssocID="{17BFA709-6198-4577-85BF-F54EDB6D2BA3}" presName="linearFlow" presStyleCnt="0">
        <dgm:presLayoutVars>
          <dgm:dir/>
          <dgm:animLvl val="lvl"/>
          <dgm:resizeHandles/>
        </dgm:presLayoutVars>
      </dgm:prSet>
      <dgm:spPr/>
    </dgm:pt>
    <dgm:pt modelId="{75C2083D-0D86-4C6E-BD52-E42F2FC60A32}" type="pres">
      <dgm:prSet presAssocID="{8F7A7488-1419-4A5B-9237-685A8E1C9DED}" presName="compositeNode" presStyleCnt="0">
        <dgm:presLayoutVars>
          <dgm:bulletEnabled val="1"/>
        </dgm:presLayoutVars>
      </dgm:prSet>
      <dgm:spPr/>
    </dgm:pt>
    <dgm:pt modelId="{075AE0C2-2B04-43B6-9662-BADD84DE6DCD}" type="pres">
      <dgm:prSet presAssocID="{8F7A7488-1419-4A5B-9237-685A8E1C9DED}" presName="image" presStyleLbl="fgImgPlace1" presStyleIdx="0" presStyleCnt="3"/>
      <dgm:spPr/>
    </dgm:pt>
    <dgm:pt modelId="{E322AA69-43E9-41EA-83F9-2A203F251E1A}" type="pres">
      <dgm:prSet presAssocID="{8F7A7488-1419-4A5B-9237-685A8E1C9DED}" presName="childNode" presStyleLbl="node1" presStyleIdx="0" presStyleCnt="3" custScaleY="84062" custLinFactNeighborX="2972" custLinFactNeighborY="-2547">
        <dgm:presLayoutVars>
          <dgm:bulletEnabled val="1"/>
        </dgm:presLayoutVars>
      </dgm:prSet>
      <dgm:spPr/>
    </dgm:pt>
    <dgm:pt modelId="{2F817A47-9A2F-476A-91E4-E1B6FD2E5405}" type="pres">
      <dgm:prSet presAssocID="{8F7A7488-1419-4A5B-9237-685A8E1C9DED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E3F39730-199E-468E-A872-B9A98781D875}" type="pres">
      <dgm:prSet presAssocID="{4523B65E-CD36-4B24-BC0C-49499E7BC00A}" presName="sibTrans" presStyleCnt="0"/>
      <dgm:spPr/>
    </dgm:pt>
    <dgm:pt modelId="{7FB58FD9-485F-4C98-99A3-758C4538E0DE}" type="pres">
      <dgm:prSet presAssocID="{CB944499-1EAF-47B3-AF0F-24FE4BBEA099}" presName="compositeNode" presStyleCnt="0">
        <dgm:presLayoutVars>
          <dgm:bulletEnabled val="1"/>
        </dgm:presLayoutVars>
      </dgm:prSet>
      <dgm:spPr/>
    </dgm:pt>
    <dgm:pt modelId="{4AE68B10-1D89-4C02-B9C8-437A97382BBE}" type="pres">
      <dgm:prSet presAssocID="{CB944499-1EAF-47B3-AF0F-24FE4BBEA099}" presName="image" presStyleLbl="fgImgPlace1" presStyleIdx="1" presStyleCnt="3"/>
      <dgm:spPr/>
    </dgm:pt>
    <dgm:pt modelId="{9D52E90A-E7CB-4B30-BE21-377E11CE4FEB}" type="pres">
      <dgm:prSet presAssocID="{CB944499-1EAF-47B3-AF0F-24FE4BBEA099}" presName="childNode" presStyleLbl="node1" presStyleIdx="1" presStyleCnt="3" custScaleY="83141">
        <dgm:presLayoutVars>
          <dgm:bulletEnabled val="1"/>
        </dgm:presLayoutVars>
      </dgm:prSet>
      <dgm:spPr/>
    </dgm:pt>
    <dgm:pt modelId="{31950A07-C826-49B9-976D-30096DC36193}" type="pres">
      <dgm:prSet presAssocID="{CB944499-1EAF-47B3-AF0F-24FE4BBEA099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4F8AC320-6D78-48FB-81E8-DF45CCD4082F}" type="pres">
      <dgm:prSet presAssocID="{AF6180A9-D33D-4DCF-8E7F-B607BAA75BC8}" presName="sibTrans" presStyleCnt="0"/>
      <dgm:spPr/>
    </dgm:pt>
    <dgm:pt modelId="{BA53CBCC-ACF7-4D59-8B14-3D750AF04B39}" type="pres">
      <dgm:prSet presAssocID="{E37B6441-4EDE-4209-903F-5ADCCEEC7F9A}" presName="compositeNode" presStyleCnt="0">
        <dgm:presLayoutVars>
          <dgm:bulletEnabled val="1"/>
        </dgm:presLayoutVars>
      </dgm:prSet>
      <dgm:spPr/>
    </dgm:pt>
    <dgm:pt modelId="{376EB257-3028-422D-A333-C46B47E2425A}" type="pres">
      <dgm:prSet presAssocID="{E37B6441-4EDE-4209-903F-5ADCCEEC7F9A}" presName="image" presStyleLbl="fgImgPlace1" presStyleIdx="2" presStyleCnt="3"/>
      <dgm:spPr/>
    </dgm:pt>
    <dgm:pt modelId="{86FC849B-4F06-4560-9372-02B8205574A9}" type="pres">
      <dgm:prSet presAssocID="{E37B6441-4EDE-4209-903F-5ADCCEEC7F9A}" presName="childNode" presStyleLbl="node1" presStyleIdx="2" presStyleCnt="3" custScaleY="90525">
        <dgm:presLayoutVars>
          <dgm:bulletEnabled val="1"/>
        </dgm:presLayoutVars>
      </dgm:prSet>
      <dgm:spPr/>
    </dgm:pt>
    <dgm:pt modelId="{EDA28E9A-F9F2-44F4-A558-36D6B7C5C398}" type="pres">
      <dgm:prSet presAssocID="{E37B6441-4EDE-4209-903F-5ADCCEEC7F9A}" presName="parentNode" presStyleLbl="revTx" presStyleIdx="2" presStyleCnt="3" custScaleX="146531" custScaleY="54980" custLinFactNeighborX="6949" custLinFactNeighborY="11727">
        <dgm:presLayoutVars>
          <dgm:chMax val="0"/>
          <dgm:bulletEnabled val="1"/>
        </dgm:presLayoutVars>
      </dgm:prSet>
      <dgm:spPr/>
    </dgm:pt>
  </dgm:ptLst>
  <dgm:cxnLst>
    <dgm:cxn modelId="{5442B10D-05AB-4A85-A52C-8B7695071E55}" srcId="{17BFA709-6198-4577-85BF-F54EDB6D2BA3}" destId="{CB944499-1EAF-47B3-AF0F-24FE4BBEA099}" srcOrd="1" destOrd="0" parTransId="{9667C5B4-F997-4FC4-B776-6F53D1269384}" sibTransId="{AF6180A9-D33D-4DCF-8E7F-B607BAA75BC8}"/>
    <dgm:cxn modelId="{74D04113-E82C-49EF-A2AF-31F2C1378910}" srcId="{17BFA709-6198-4577-85BF-F54EDB6D2BA3}" destId="{E37B6441-4EDE-4209-903F-5ADCCEEC7F9A}" srcOrd="2" destOrd="0" parTransId="{EFA95F85-E7F2-4655-AEF1-2E4CBFEDB926}" sibTransId="{1049AB8F-2B03-4735-BD80-DC12D64129F4}"/>
    <dgm:cxn modelId="{C2F36D15-7268-406A-8B4C-1B279217309E}" srcId="{E37B6441-4EDE-4209-903F-5ADCCEEC7F9A}" destId="{23DD210F-9B7A-437C-AE83-BE11E74845D0}" srcOrd="1" destOrd="0" parTransId="{2647C520-F5AD-452A-AEEF-FC8B97264876}" sibTransId="{D3D1A1F5-AC57-4349-B699-77F4298737F1}"/>
    <dgm:cxn modelId="{BE32441A-7431-4FE1-A607-8F284E41B695}" srcId="{8F7A7488-1419-4A5B-9237-685A8E1C9DED}" destId="{97B2E09A-EBD6-49C9-8737-40AFA404AF2E}" srcOrd="1" destOrd="0" parTransId="{49156C5F-347E-4FF7-BD9C-5BF761FE49DF}" sibTransId="{71E91E84-ABB7-4ACF-83D2-A1FBDC07BED7}"/>
    <dgm:cxn modelId="{7DDFDA26-0D29-49D2-938A-B4D6A82A5C82}" type="presOf" srcId="{23DD210F-9B7A-437C-AE83-BE11E74845D0}" destId="{86FC849B-4F06-4560-9372-02B8205574A9}" srcOrd="0" destOrd="1" presId="urn:microsoft.com/office/officeart/2005/8/layout/hList2"/>
    <dgm:cxn modelId="{DC1FFA28-0FD7-442C-9241-072D571E0ED3}" srcId="{17BFA709-6198-4577-85BF-F54EDB6D2BA3}" destId="{8F7A7488-1419-4A5B-9237-685A8E1C9DED}" srcOrd="0" destOrd="0" parTransId="{E3334A57-0E03-4BC6-921D-C31EC773036E}" sibTransId="{4523B65E-CD36-4B24-BC0C-49499E7BC00A}"/>
    <dgm:cxn modelId="{1B16B02E-5A1F-4F7C-9211-EAB12DB917CC}" type="presOf" srcId="{1F417D18-DEF0-407C-907A-321268B36C4A}" destId="{E322AA69-43E9-41EA-83F9-2A203F251E1A}" srcOrd="0" destOrd="2" presId="urn:microsoft.com/office/officeart/2005/8/layout/hList2"/>
    <dgm:cxn modelId="{208B9464-21C6-4C6B-B48E-087345BEF390}" type="presOf" srcId="{E37B6441-4EDE-4209-903F-5ADCCEEC7F9A}" destId="{EDA28E9A-F9F2-44F4-A558-36D6B7C5C398}" srcOrd="0" destOrd="0" presId="urn:microsoft.com/office/officeart/2005/8/layout/hList2"/>
    <dgm:cxn modelId="{D5222D51-0BE0-416E-B1E3-A3AEC5B06E1C}" type="presOf" srcId="{97B2E09A-EBD6-49C9-8737-40AFA404AF2E}" destId="{E322AA69-43E9-41EA-83F9-2A203F251E1A}" srcOrd="0" destOrd="1" presId="urn:microsoft.com/office/officeart/2005/8/layout/hList2"/>
    <dgm:cxn modelId="{B2C20479-9138-42A5-9CE1-A4B02F1A6C93}" srcId="{8F7A7488-1419-4A5B-9237-685A8E1C9DED}" destId="{F676E578-35A5-4DBB-8101-148EA42E24F8}" srcOrd="0" destOrd="0" parTransId="{ED0CBB89-847D-4407-865A-8360CC547D2B}" sibTransId="{BC79144C-38C3-4AAA-9932-A9EB80FEB567}"/>
    <dgm:cxn modelId="{7C951179-3F82-4DD4-BD03-958CA9C04597}" type="presOf" srcId="{EB5C23D0-9B74-4C69-ACDD-72BF596049DD}" destId="{9D52E90A-E7CB-4B30-BE21-377E11CE4FEB}" srcOrd="0" destOrd="1" presId="urn:microsoft.com/office/officeart/2005/8/layout/hList2"/>
    <dgm:cxn modelId="{A9F4E479-9DFB-499E-9580-6005C7AE18FB}" type="presOf" srcId="{FF22483C-2B0A-4896-9BF5-13ED9E2CAE18}" destId="{86FC849B-4F06-4560-9372-02B8205574A9}" srcOrd="0" destOrd="0" presId="urn:microsoft.com/office/officeart/2005/8/layout/hList2"/>
    <dgm:cxn modelId="{38197F7A-C4BC-438F-843D-9528F09E0B2F}" type="presOf" srcId="{CB944499-1EAF-47B3-AF0F-24FE4BBEA099}" destId="{31950A07-C826-49B9-976D-30096DC36193}" srcOrd="0" destOrd="0" presId="urn:microsoft.com/office/officeart/2005/8/layout/hList2"/>
    <dgm:cxn modelId="{B11F0E82-7243-45A5-8AC9-05A291501BB0}" type="presOf" srcId="{17BFA709-6198-4577-85BF-F54EDB6D2BA3}" destId="{26B7A430-4BB2-438B-9E99-232071ED5F9B}" srcOrd="0" destOrd="0" presId="urn:microsoft.com/office/officeart/2005/8/layout/hList2"/>
    <dgm:cxn modelId="{D7E38E84-D673-4CD2-A84C-D4CE72079DC4}" type="presOf" srcId="{F676E578-35A5-4DBB-8101-148EA42E24F8}" destId="{E322AA69-43E9-41EA-83F9-2A203F251E1A}" srcOrd="0" destOrd="0" presId="urn:microsoft.com/office/officeart/2005/8/layout/hList2"/>
    <dgm:cxn modelId="{7DF50687-1A66-46DD-BF58-BB5CBD6A9337}" type="presOf" srcId="{8F7A7488-1419-4A5B-9237-685A8E1C9DED}" destId="{2F817A47-9A2F-476A-91E4-E1B6FD2E5405}" srcOrd="0" destOrd="0" presId="urn:microsoft.com/office/officeart/2005/8/layout/hList2"/>
    <dgm:cxn modelId="{D9BB3B9F-2A0B-432C-8511-377DA249A7F4}" srcId="{E37B6441-4EDE-4209-903F-5ADCCEEC7F9A}" destId="{FF22483C-2B0A-4896-9BF5-13ED9E2CAE18}" srcOrd="0" destOrd="0" parTransId="{DE07AEC7-68A7-420D-9925-143C642FAFA0}" sibTransId="{55ACCAB6-B00E-421F-8C28-9E3E56D60AA1}"/>
    <dgm:cxn modelId="{43AFBA9F-15AD-4862-BA95-F014F3BFD2A9}" type="presOf" srcId="{6287B31A-840A-428E-BFF8-B59203ADE907}" destId="{86FC849B-4F06-4560-9372-02B8205574A9}" srcOrd="0" destOrd="2" presId="urn:microsoft.com/office/officeart/2005/8/layout/hList2"/>
    <dgm:cxn modelId="{B66C12BC-CD71-422C-B17A-B83133D9C1BC}" srcId="{8F7A7488-1419-4A5B-9237-685A8E1C9DED}" destId="{1F417D18-DEF0-407C-907A-321268B36C4A}" srcOrd="2" destOrd="0" parTransId="{8A919D93-7715-43C2-A82E-76BD58BA57D6}" sibTransId="{3EEC328B-312B-43BC-B29E-5CDA211B7AFA}"/>
    <dgm:cxn modelId="{8C551BCD-6C23-4065-A1D2-E93C7BF22995}" type="presOf" srcId="{09B90F2B-480A-4B8C-9C7D-B0FCC8DBC314}" destId="{9D52E90A-E7CB-4B30-BE21-377E11CE4FEB}" srcOrd="0" destOrd="0" presId="urn:microsoft.com/office/officeart/2005/8/layout/hList2"/>
    <dgm:cxn modelId="{48C558E4-F28C-43D5-9DFA-4EF6251E9A71}" srcId="{CB944499-1EAF-47B3-AF0F-24FE4BBEA099}" destId="{EB5C23D0-9B74-4C69-ACDD-72BF596049DD}" srcOrd="1" destOrd="0" parTransId="{D74605D3-DB6B-4DBE-836D-7A1FD30A437C}" sibTransId="{22FCFAFE-2D71-428D-8EC1-B25364498290}"/>
    <dgm:cxn modelId="{0C9316E6-9C8B-40C0-9D0D-4C6937C7E8A5}" srcId="{CB944499-1EAF-47B3-AF0F-24FE4BBEA099}" destId="{09B90F2B-480A-4B8C-9C7D-B0FCC8DBC314}" srcOrd="0" destOrd="0" parTransId="{BCC7B5AC-732C-4A8F-A3DD-D7728F3F1DD7}" sibTransId="{82EB463E-3525-493C-A06F-436C75EA7825}"/>
    <dgm:cxn modelId="{DF9492E7-04C7-417C-AD7C-99956E243E6B}" srcId="{E37B6441-4EDE-4209-903F-5ADCCEEC7F9A}" destId="{6287B31A-840A-428E-BFF8-B59203ADE907}" srcOrd="2" destOrd="0" parTransId="{2855ECDF-FE7B-4FF3-8999-915686DE12DD}" sibTransId="{E621F15C-4510-4043-92D6-9F787BB21D42}"/>
    <dgm:cxn modelId="{A722CBEC-61FE-4CDC-8F9B-ADBDE3E6001F}" srcId="{CB944499-1EAF-47B3-AF0F-24FE4BBEA099}" destId="{39701B77-78AE-4DAC-ABAD-F640E960A121}" srcOrd="2" destOrd="0" parTransId="{0ED3B2D3-D2D3-4B79-B5D9-8F1FE54746AE}" sibTransId="{F95B71B6-85EE-4348-B9A6-3B25AE37A9EC}"/>
    <dgm:cxn modelId="{110544F4-EC16-4162-B751-5DAC2224283A}" type="presOf" srcId="{39701B77-78AE-4DAC-ABAD-F640E960A121}" destId="{9D52E90A-E7CB-4B30-BE21-377E11CE4FEB}" srcOrd="0" destOrd="2" presId="urn:microsoft.com/office/officeart/2005/8/layout/hList2"/>
    <dgm:cxn modelId="{EC52A31A-020E-4879-9768-2B90EE328856}" type="presParOf" srcId="{26B7A430-4BB2-438B-9E99-232071ED5F9B}" destId="{75C2083D-0D86-4C6E-BD52-E42F2FC60A32}" srcOrd="0" destOrd="0" presId="urn:microsoft.com/office/officeart/2005/8/layout/hList2"/>
    <dgm:cxn modelId="{90A672CD-C465-405D-AE96-8FF9F2DF5034}" type="presParOf" srcId="{75C2083D-0D86-4C6E-BD52-E42F2FC60A32}" destId="{075AE0C2-2B04-43B6-9662-BADD84DE6DCD}" srcOrd="0" destOrd="0" presId="urn:microsoft.com/office/officeart/2005/8/layout/hList2"/>
    <dgm:cxn modelId="{253198F3-9ECD-415E-AAA9-B3E214D7FB6B}" type="presParOf" srcId="{75C2083D-0D86-4C6E-BD52-E42F2FC60A32}" destId="{E322AA69-43E9-41EA-83F9-2A203F251E1A}" srcOrd="1" destOrd="0" presId="urn:microsoft.com/office/officeart/2005/8/layout/hList2"/>
    <dgm:cxn modelId="{20A1541B-9B01-492A-AB30-CBB2D7B2C65A}" type="presParOf" srcId="{75C2083D-0D86-4C6E-BD52-E42F2FC60A32}" destId="{2F817A47-9A2F-476A-91E4-E1B6FD2E5405}" srcOrd="2" destOrd="0" presId="urn:microsoft.com/office/officeart/2005/8/layout/hList2"/>
    <dgm:cxn modelId="{1BC15652-ED31-4DE9-8616-D1B4DBEDC1DA}" type="presParOf" srcId="{26B7A430-4BB2-438B-9E99-232071ED5F9B}" destId="{E3F39730-199E-468E-A872-B9A98781D875}" srcOrd="1" destOrd="0" presId="urn:microsoft.com/office/officeart/2005/8/layout/hList2"/>
    <dgm:cxn modelId="{39CF17F2-67B7-4308-9D85-75BA80BDDB37}" type="presParOf" srcId="{26B7A430-4BB2-438B-9E99-232071ED5F9B}" destId="{7FB58FD9-485F-4C98-99A3-758C4538E0DE}" srcOrd="2" destOrd="0" presId="urn:microsoft.com/office/officeart/2005/8/layout/hList2"/>
    <dgm:cxn modelId="{383088A9-E18E-4533-AC5B-69A9F17D234C}" type="presParOf" srcId="{7FB58FD9-485F-4C98-99A3-758C4538E0DE}" destId="{4AE68B10-1D89-4C02-B9C8-437A97382BBE}" srcOrd="0" destOrd="0" presId="urn:microsoft.com/office/officeart/2005/8/layout/hList2"/>
    <dgm:cxn modelId="{E5FFB723-B8B7-47D4-910A-929D86628E37}" type="presParOf" srcId="{7FB58FD9-485F-4C98-99A3-758C4538E0DE}" destId="{9D52E90A-E7CB-4B30-BE21-377E11CE4FEB}" srcOrd="1" destOrd="0" presId="urn:microsoft.com/office/officeart/2005/8/layout/hList2"/>
    <dgm:cxn modelId="{D1207C85-C441-4DC8-B847-B13A7719B3A6}" type="presParOf" srcId="{7FB58FD9-485F-4C98-99A3-758C4538E0DE}" destId="{31950A07-C826-49B9-976D-30096DC36193}" srcOrd="2" destOrd="0" presId="urn:microsoft.com/office/officeart/2005/8/layout/hList2"/>
    <dgm:cxn modelId="{A2C7052A-033E-4735-AC60-462BFF339178}" type="presParOf" srcId="{26B7A430-4BB2-438B-9E99-232071ED5F9B}" destId="{4F8AC320-6D78-48FB-81E8-DF45CCD4082F}" srcOrd="3" destOrd="0" presId="urn:microsoft.com/office/officeart/2005/8/layout/hList2"/>
    <dgm:cxn modelId="{D8EF6637-FB9F-489A-8DD9-02293900AFDB}" type="presParOf" srcId="{26B7A430-4BB2-438B-9E99-232071ED5F9B}" destId="{BA53CBCC-ACF7-4D59-8B14-3D750AF04B39}" srcOrd="4" destOrd="0" presId="urn:microsoft.com/office/officeart/2005/8/layout/hList2"/>
    <dgm:cxn modelId="{F212730F-6F74-4844-B3A7-40F57B26AC94}" type="presParOf" srcId="{BA53CBCC-ACF7-4D59-8B14-3D750AF04B39}" destId="{376EB257-3028-422D-A333-C46B47E2425A}" srcOrd="0" destOrd="0" presId="urn:microsoft.com/office/officeart/2005/8/layout/hList2"/>
    <dgm:cxn modelId="{8FA78D96-2505-4231-884E-79FF64A2180B}" type="presParOf" srcId="{BA53CBCC-ACF7-4D59-8B14-3D750AF04B39}" destId="{86FC849B-4F06-4560-9372-02B8205574A9}" srcOrd="1" destOrd="0" presId="urn:microsoft.com/office/officeart/2005/8/layout/hList2"/>
    <dgm:cxn modelId="{35B79596-B779-4584-A7FC-C6BBB1A052BB}" type="presParOf" srcId="{BA53CBCC-ACF7-4D59-8B14-3D750AF04B39}" destId="{EDA28E9A-F9F2-44F4-A558-36D6B7C5C398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9B966-7029-4CB8-82D5-442C7D15045D}">
      <dsp:nvSpPr>
        <dsp:cNvPr id="0" name=""/>
        <dsp:cNvSpPr/>
      </dsp:nvSpPr>
      <dsp:spPr>
        <a:xfrm>
          <a:off x="0" y="1515475"/>
          <a:ext cx="3122458" cy="28075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Timing Gaps:</a:t>
          </a:r>
          <a:r>
            <a:rPr lang="en-IN" sz="1400" kern="1200" dirty="0"/>
            <a:t> Factory heat supply rises and falls with work shifts, while AI server cooling needs jump without warning.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Distance Limits:</a:t>
          </a:r>
          <a:r>
            <a:rPr lang="en-IN" sz="1400" kern="1200" dirty="0"/>
            <a:t> Heat degrades fast across long pipelines, requiring plants and data </a:t>
          </a:r>
          <a:r>
            <a:rPr lang="en-IN" sz="1400" kern="1200" dirty="0" err="1"/>
            <a:t>centers</a:t>
          </a:r>
          <a:r>
            <a:rPr lang="en-IN" sz="1400" kern="1200" dirty="0"/>
            <a:t> to be co-located.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Heat and Water Quality:</a:t>
          </a:r>
          <a:r>
            <a:rPr lang="en-US" sz="1400" b="0" kern="1200" dirty="0"/>
            <a:t>Industrial exhaust may contain contaminants, and recovered water may require treatment before reuse.</a:t>
          </a:r>
          <a:endParaRPr lang="en-IN" sz="1400" b="0" kern="1200" dirty="0"/>
        </a:p>
      </dsp:txBody>
      <dsp:txXfrm>
        <a:off x="64609" y="1580084"/>
        <a:ext cx="2993240" cy="2076712"/>
      </dsp:txXfrm>
    </dsp:sp>
    <dsp:sp modelId="{87D54154-9D6D-4FA7-8E04-32FA20E105CD}">
      <dsp:nvSpPr>
        <dsp:cNvPr id="0" name=""/>
        <dsp:cNvSpPr/>
      </dsp:nvSpPr>
      <dsp:spPr>
        <a:xfrm>
          <a:off x="1606097" y="2076624"/>
          <a:ext cx="3179168" cy="3179168"/>
        </a:xfrm>
        <a:prstGeom prst="leftCircularArrow">
          <a:avLst>
            <a:gd name="adj1" fmla="val 1900"/>
            <a:gd name="adj2" fmla="val 227133"/>
            <a:gd name="adj3" fmla="val 1193781"/>
            <a:gd name="adj4" fmla="val 8215627"/>
            <a:gd name="adj5" fmla="val 221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66295-647F-49B7-9BCD-2A316B936AB9}">
      <dsp:nvSpPr>
        <dsp:cNvPr id="0" name=""/>
        <dsp:cNvSpPr/>
      </dsp:nvSpPr>
      <dsp:spPr>
        <a:xfrm>
          <a:off x="1206644" y="4260354"/>
          <a:ext cx="1751348" cy="4467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The Bottlenecks</a:t>
          </a:r>
        </a:p>
      </dsp:txBody>
      <dsp:txXfrm>
        <a:off x="1219728" y="4273438"/>
        <a:ext cx="1725180" cy="420565"/>
      </dsp:txXfrm>
    </dsp:sp>
    <dsp:sp modelId="{A6571EB6-CABF-49E2-9717-EC2FA33E9A3F}">
      <dsp:nvSpPr>
        <dsp:cNvPr id="0" name=""/>
        <dsp:cNvSpPr/>
      </dsp:nvSpPr>
      <dsp:spPr>
        <a:xfrm>
          <a:off x="3411813" y="1346502"/>
          <a:ext cx="3350083" cy="31421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Industrial–IT Connectivity </a:t>
          </a:r>
          <a:r>
            <a:rPr lang="en-IN" sz="1400" b="1" kern="1200" dirty="0" err="1"/>
            <a:t>Barriers:</a:t>
          </a:r>
          <a:r>
            <a:rPr lang="en-IN" sz="1400" kern="1200" dirty="0" err="1"/>
            <a:t>Industrial</a:t>
          </a:r>
          <a:r>
            <a:rPr lang="en-IN" sz="1400" kern="1200" dirty="0"/>
            <a:t> control systems (OT) stay disconnected from IT systems to prevent cyberattacks.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/>
            <a:t>Zero Shared Intelligence:</a:t>
          </a:r>
          <a:r>
            <a:rPr lang="en-IN" sz="1400" kern="1200"/>
            <a:t> Neither facility shares real-time schedules or demand forecasts.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No Trade Mechanism:</a:t>
          </a:r>
          <a:r>
            <a:rPr lang="en-IN" sz="1400" kern="1200" dirty="0"/>
            <a:t> No plug-and-play framework exists to price and exchange waste heat or recovered water</a:t>
          </a:r>
        </a:p>
      </dsp:txBody>
      <dsp:txXfrm>
        <a:off x="3484122" y="2092121"/>
        <a:ext cx="3205465" cy="2324186"/>
      </dsp:txXfrm>
    </dsp:sp>
    <dsp:sp modelId="{6F716DE0-3BBD-47E6-B411-026A4D9120FF}">
      <dsp:nvSpPr>
        <dsp:cNvPr id="0" name=""/>
        <dsp:cNvSpPr/>
      </dsp:nvSpPr>
      <dsp:spPr>
        <a:xfrm>
          <a:off x="5134273" y="658771"/>
          <a:ext cx="3381348" cy="3381348"/>
        </a:xfrm>
        <a:prstGeom prst="circularArrow">
          <a:avLst>
            <a:gd name="adj1" fmla="val 1787"/>
            <a:gd name="adj2" fmla="val 213000"/>
            <a:gd name="adj3" fmla="val 20087693"/>
            <a:gd name="adj4" fmla="val 13051714"/>
            <a:gd name="adj5" fmla="val 208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181D5-8B14-44BE-B45C-42B725CB5248}">
      <dsp:nvSpPr>
        <dsp:cNvPr id="0" name=""/>
        <dsp:cNvSpPr/>
      </dsp:nvSpPr>
      <dsp:spPr>
        <a:xfrm>
          <a:off x="4660384" y="1359425"/>
          <a:ext cx="1751348" cy="592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The Root Causes</a:t>
          </a:r>
        </a:p>
      </dsp:txBody>
      <dsp:txXfrm>
        <a:off x="4677731" y="1376772"/>
        <a:ext cx="1716654" cy="557576"/>
      </dsp:txXfrm>
    </dsp:sp>
    <dsp:sp modelId="{091324E6-E870-4878-9EB4-A9F86F3EC0F5}">
      <dsp:nvSpPr>
        <dsp:cNvPr id="0" name=""/>
        <dsp:cNvSpPr/>
      </dsp:nvSpPr>
      <dsp:spPr>
        <a:xfrm>
          <a:off x="7049559" y="1608104"/>
          <a:ext cx="2987771" cy="26189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Drinking Water Loss:</a:t>
          </a:r>
          <a:r>
            <a:rPr lang="en-IN" sz="1400" kern="1200" dirty="0"/>
            <a:t> Millions of </a:t>
          </a:r>
          <a:r>
            <a:rPr lang="en-IN" sz="1400" kern="1200" dirty="0" err="1"/>
            <a:t>liters</a:t>
          </a:r>
          <a:r>
            <a:rPr lang="en-IN" sz="1400" kern="1200" dirty="0"/>
            <a:t> of fresh city tap water evaporate in cooling towers daily.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Inflated Operating Bills:</a:t>
          </a:r>
          <a:r>
            <a:rPr lang="en-IN" sz="1400" kern="1200" dirty="0"/>
            <a:t> Data </a:t>
          </a:r>
          <a:r>
            <a:rPr lang="en-IN" sz="1400" kern="1200" dirty="0" err="1"/>
            <a:t>centers</a:t>
          </a:r>
          <a:r>
            <a:rPr lang="en-IN" sz="1400" kern="1200" dirty="0"/>
            <a:t> pay full price for electricity to run mechanical chillers.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b="1" kern="1200" dirty="0"/>
            <a:t>Vented Energy:</a:t>
          </a:r>
          <a:r>
            <a:rPr lang="en-IN" sz="1400" kern="1200" dirty="0"/>
            <a:t> Reusable heat and clean moisture continue escaping into the atmosphere as waste.</a:t>
          </a:r>
        </a:p>
      </dsp:txBody>
      <dsp:txXfrm>
        <a:off x="7109827" y="1668372"/>
        <a:ext cx="2867235" cy="1937179"/>
      </dsp:txXfrm>
    </dsp:sp>
    <dsp:sp modelId="{5CB7F362-58CA-4DB3-BAFE-F16CC2EBEBE6}">
      <dsp:nvSpPr>
        <dsp:cNvPr id="0" name=""/>
        <dsp:cNvSpPr/>
      </dsp:nvSpPr>
      <dsp:spPr>
        <a:xfrm>
          <a:off x="7624462" y="3895962"/>
          <a:ext cx="2498105" cy="5189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The Business &amp; Environmental Cost</a:t>
          </a:r>
        </a:p>
      </dsp:txBody>
      <dsp:txXfrm>
        <a:off x="7639662" y="3911162"/>
        <a:ext cx="2467705" cy="4885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817A47-9A2F-476A-91E4-E1B6FD2E5405}">
      <dsp:nvSpPr>
        <dsp:cNvPr id="0" name=""/>
        <dsp:cNvSpPr/>
      </dsp:nvSpPr>
      <dsp:spPr>
        <a:xfrm rot="16200000">
          <a:off x="-1556468" y="2450137"/>
          <a:ext cx="3693397" cy="5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5167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Existing Approach</a:t>
          </a:r>
        </a:p>
      </dsp:txBody>
      <dsp:txXfrm>
        <a:off x="-1556468" y="2450137"/>
        <a:ext cx="3693397" cy="516094"/>
      </dsp:txXfrm>
    </dsp:sp>
    <dsp:sp modelId="{E322AA69-43E9-41EA-83F9-2A203F251E1A}">
      <dsp:nvSpPr>
        <dsp:cNvPr id="0" name=""/>
        <dsp:cNvSpPr/>
      </dsp:nvSpPr>
      <dsp:spPr>
        <a:xfrm>
          <a:off x="624678" y="1061742"/>
          <a:ext cx="2570698" cy="310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455167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Industrial Symbiosis:</a:t>
          </a:r>
          <a:r>
            <a:rPr lang="en-IN" sz="1300" kern="1200" dirty="0"/>
            <a:t> </a:t>
          </a:r>
          <a:r>
            <a:rPr lang="en-IN" sz="1300" kern="1200" dirty="0" err="1"/>
            <a:t>Neighboring</a:t>
          </a:r>
          <a:r>
            <a:rPr lang="en-IN" sz="1300" kern="1200" dirty="0"/>
            <a:t> industrial plants share steam and process water manually under static contracts (e.g., </a:t>
          </a:r>
          <a:r>
            <a:rPr lang="en-IN" sz="1300" kern="1200" dirty="0" err="1"/>
            <a:t>Kalundborg</a:t>
          </a:r>
          <a:r>
            <a:rPr lang="en-IN" sz="1300" kern="1200" dirty="0"/>
            <a:t>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Internal Facility AI:</a:t>
          </a:r>
          <a:r>
            <a:rPr lang="en-IN" sz="1300" kern="1200" dirty="0"/>
            <a:t> Machine learning algorithms trim chiller power and fan speeds strictly inside the data </a:t>
          </a:r>
          <a:r>
            <a:rPr lang="en-IN" sz="1300" kern="1200" dirty="0" err="1"/>
            <a:t>center</a:t>
          </a:r>
          <a:r>
            <a:rPr lang="en-IN" sz="1300" kern="1200" dirty="0"/>
            <a:t> (e.g., DeepMind).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Standalone Hardware:</a:t>
          </a:r>
          <a:r>
            <a:rPr lang="en-IN" sz="1300" kern="1200" dirty="0"/>
            <a:t> Fixed absorption chillers and condensers installed without networked software intelligence</a:t>
          </a:r>
        </a:p>
      </dsp:txBody>
      <dsp:txXfrm>
        <a:off x="624678" y="1061742"/>
        <a:ext cx="2570698" cy="3104743"/>
      </dsp:txXfrm>
    </dsp:sp>
    <dsp:sp modelId="{075AE0C2-2B04-43B6-9662-BADD84DE6DCD}">
      <dsp:nvSpPr>
        <dsp:cNvPr id="0" name=""/>
        <dsp:cNvSpPr/>
      </dsp:nvSpPr>
      <dsp:spPr>
        <a:xfrm>
          <a:off x="32182" y="180241"/>
          <a:ext cx="1032189" cy="103218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50A07-C826-49B9-976D-30096DC36193}">
      <dsp:nvSpPr>
        <dsp:cNvPr id="0" name=""/>
        <dsp:cNvSpPr/>
      </dsp:nvSpPr>
      <dsp:spPr>
        <a:xfrm rot="16200000">
          <a:off x="2208570" y="2450137"/>
          <a:ext cx="3693397" cy="5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5167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What It Does Today</a:t>
          </a:r>
        </a:p>
      </dsp:txBody>
      <dsp:txXfrm>
        <a:off x="2208570" y="2450137"/>
        <a:ext cx="3693397" cy="516094"/>
      </dsp:txXfrm>
    </dsp:sp>
    <dsp:sp modelId="{9D52E90A-E7CB-4B30-BE21-377E11CE4FEB}">
      <dsp:nvSpPr>
        <dsp:cNvPr id="0" name=""/>
        <dsp:cNvSpPr/>
      </dsp:nvSpPr>
      <dsp:spPr>
        <a:xfrm>
          <a:off x="4313316" y="1172821"/>
          <a:ext cx="2570698" cy="3070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455167" rIns="120904" bIns="120904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Static Bulk Transfer:</a:t>
          </a:r>
          <a:r>
            <a:rPr lang="en-IN" sz="1300" kern="1200" dirty="0"/>
            <a:t> Offloads waste heat through fixed piping networks, governed by rigid multi-year agreements.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Inside-the-Fence Tuning:</a:t>
          </a:r>
          <a:r>
            <a:rPr lang="en-IN" sz="1300" kern="1200" dirty="0"/>
            <a:t> Lowers internal PUE by reacting only to thermal sensors placed on internal server racks.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Manual Mechanical Conversion:</a:t>
          </a:r>
          <a:r>
            <a:rPr lang="en-IN" sz="1300" kern="1200" dirty="0"/>
            <a:t> Thermally converts continuous heat streams to cold water at fixed design setpoints.</a:t>
          </a:r>
        </a:p>
      </dsp:txBody>
      <dsp:txXfrm>
        <a:off x="4313316" y="1172821"/>
        <a:ext cx="2570698" cy="3070727"/>
      </dsp:txXfrm>
    </dsp:sp>
    <dsp:sp modelId="{4AE68B10-1D89-4C02-B9C8-437A97382BBE}">
      <dsp:nvSpPr>
        <dsp:cNvPr id="0" name=""/>
        <dsp:cNvSpPr/>
      </dsp:nvSpPr>
      <dsp:spPr>
        <a:xfrm>
          <a:off x="3797222" y="180241"/>
          <a:ext cx="1032189" cy="103218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28E9A-F9F2-44F4-A558-36D6B7C5C398}">
      <dsp:nvSpPr>
        <dsp:cNvPr id="0" name=""/>
        <dsp:cNvSpPr/>
      </dsp:nvSpPr>
      <dsp:spPr>
        <a:xfrm rot="16200000">
          <a:off x="6960928" y="2763190"/>
          <a:ext cx="2030629" cy="756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5167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The Gap</a:t>
          </a:r>
        </a:p>
      </dsp:txBody>
      <dsp:txXfrm>
        <a:off x="6960928" y="2763190"/>
        <a:ext cx="2030629" cy="756238"/>
      </dsp:txXfrm>
    </dsp:sp>
    <dsp:sp modelId="{86FC849B-4F06-4560-9372-02B8205574A9}">
      <dsp:nvSpPr>
        <dsp:cNvPr id="0" name=""/>
        <dsp:cNvSpPr/>
      </dsp:nvSpPr>
      <dsp:spPr>
        <a:xfrm>
          <a:off x="8198427" y="1036460"/>
          <a:ext cx="2570698" cy="3343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455167" rIns="120904" bIns="120904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Incapable of Dynamic AI Response:</a:t>
          </a:r>
          <a:r>
            <a:rPr lang="en-IN" sz="1300" kern="1200" dirty="0"/>
            <a:t> Zero real-time synchronization with sudden, second-by-second GPU compute workload bursts.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/>
            <a:t>Ignores External Assets:</a:t>
          </a:r>
          <a:r>
            <a:rPr lang="en-IN" sz="1300" kern="1200"/>
            <a:t> Trapped inside facility walls—remains 100% dependent on expensive grid power and local city water.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b="1" kern="1200" dirty="0"/>
            <a:t>No Cyber-Physical Brain:</a:t>
          </a:r>
          <a:r>
            <a:rPr lang="en-IN" sz="1300" kern="1200" dirty="0"/>
            <a:t> Lacks predictive forecasting, dynamic dispatch, and zero-trust security between industrial OT and IT.</a:t>
          </a:r>
        </a:p>
      </dsp:txBody>
      <dsp:txXfrm>
        <a:off x="8198427" y="1036460"/>
        <a:ext cx="2570698" cy="3343448"/>
      </dsp:txXfrm>
    </dsp:sp>
    <dsp:sp modelId="{376EB257-3028-422D-A333-C46B47E2425A}">
      <dsp:nvSpPr>
        <dsp:cNvPr id="0" name=""/>
        <dsp:cNvSpPr/>
      </dsp:nvSpPr>
      <dsp:spPr>
        <a:xfrm>
          <a:off x="7682333" y="180241"/>
          <a:ext cx="1032189" cy="103218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623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12.jpe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1.png"/><Relationship Id="rId4" Type="http://schemas.openxmlformats.org/officeDocument/2006/relationships/diagramData" Target="../diagrams/data2.xml"/><Relationship Id="rId9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7" name="Cover Fields">
            <a:extLst>
              <a:ext uri="{FF2B5EF4-FFF2-40B4-BE49-F238E27FC236}">
                <a16:creationId xmlns:a16="http://schemas.microsoft.com/office/drawing/2014/main" id="{9B9DBD0A-7344-E989-E307-EC24C7618DC5}"/>
              </a:ext>
            </a:extLst>
          </p:cNvPr>
          <p:cNvSpPr txBox="1"/>
          <p:nvPr/>
        </p:nvSpPr>
        <p:spPr>
          <a:xfrm>
            <a:off x="434340" y="3446766"/>
            <a:ext cx="7109460" cy="243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</a:t>
            </a:r>
            <a:r>
              <a:rPr lang="en-US" sz="2000" b="1" dirty="0" err="1">
                <a:solidFill>
                  <a:schemeClr val="bg1"/>
                </a:solidFill>
              </a:rPr>
              <a:t>Ryvex</a:t>
            </a:r>
            <a:endParaRPr lang="en-US" sz="2000" b="1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 </a:t>
            </a:r>
            <a:r>
              <a:rPr lang="en-US" sz="1800" b="1" dirty="0">
                <a:solidFill>
                  <a:schemeClr val="bg1"/>
                </a:solidFill>
              </a:rPr>
              <a:t>Rhaghavi S N, Charu Nethra C, Sai Durga C, Bhavya V</a:t>
            </a:r>
            <a:endParaRPr lang="en-US" sz="1800" b="1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</a:t>
            </a:r>
            <a:r>
              <a:rPr lang="en-US" sz="1800" b="1" dirty="0">
                <a:solidFill>
                  <a:schemeClr val="bg1"/>
                </a:solidFill>
              </a:rPr>
              <a:t>Intelligent Systems &amp; Digital Futures </a:t>
            </a:r>
            <a:endParaRPr lang="en-US" sz="1800" b="1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Secure Digital-Twin-Based Coordination of Industrial Waste Heat and Water Vapor Recovery with Dynamic AI Data-Center Cooling Demand</a:t>
            </a:r>
            <a:endParaRPr lang="en-US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087384" y="-52227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10" name="Prompts"/>
          <p:cNvSpPr txBox="1"/>
          <p:nvPr/>
        </p:nvSpPr>
        <p:spPr>
          <a:xfrm>
            <a:off x="4252831" y="2950759"/>
            <a:ext cx="6943825" cy="251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27A92EE-178F-27C8-96AE-350D0138C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14" y="1424406"/>
            <a:ext cx="473619" cy="4736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16597C9-664B-726C-8AE3-A973038F4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782" y="2560219"/>
            <a:ext cx="473619" cy="47361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DC2A54E-F2DD-627D-5508-00A67AA5A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783" y="3508823"/>
            <a:ext cx="473619" cy="47361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0FCC541-D874-84B2-E363-87D6EE359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13" y="4417310"/>
            <a:ext cx="473619" cy="47361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8013DE3-2E89-BAA3-4B78-AB4A8CD14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13" y="5470173"/>
            <a:ext cx="473619" cy="47361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C20A3F0-24C9-4A41-A418-11CAD7FB40B1}"/>
              </a:ext>
            </a:extLst>
          </p:cNvPr>
          <p:cNvSpPr txBox="1"/>
          <p:nvPr/>
        </p:nvSpPr>
        <p:spPr>
          <a:xfrm>
            <a:off x="3586272" y="1245718"/>
            <a:ext cx="3443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/>
              <a:t>Data centres need continuous cooling and water for increasing computing needs.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6221E8-6EED-CBC5-ADF8-00519BCD48EC}"/>
              </a:ext>
            </a:extLst>
          </p:cNvPr>
          <p:cNvSpPr txBox="1"/>
          <p:nvPr/>
        </p:nvSpPr>
        <p:spPr>
          <a:xfrm>
            <a:off x="3603271" y="2381531"/>
            <a:ext cx="3443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Industries generate usable waste heat and water vapour that can be recovered.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E78A77-5BF4-B6E3-083F-A18DD378FBC6}"/>
              </a:ext>
            </a:extLst>
          </p:cNvPr>
          <p:cNvSpPr txBox="1"/>
          <p:nvPr/>
        </p:nvSpPr>
        <p:spPr>
          <a:xfrm>
            <a:off x="3603271" y="3452373"/>
            <a:ext cx="2977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An AI system can monitor these resources in real time.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893B8C-F0D6-163F-2C7B-C9BCF827A13E}"/>
              </a:ext>
            </a:extLst>
          </p:cNvPr>
          <p:cNvSpPr txBox="1"/>
          <p:nvPr/>
        </p:nvSpPr>
        <p:spPr>
          <a:xfrm>
            <a:off x="3603270" y="4366451"/>
            <a:ext cx="36997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AI can predict resource availability and data-centre cooling demand.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FAA16A-9354-AEF5-1253-8061536409B6}"/>
              </a:ext>
            </a:extLst>
          </p:cNvPr>
          <p:cNvSpPr txBox="1"/>
          <p:nvPr/>
        </p:nvSpPr>
        <p:spPr>
          <a:xfrm>
            <a:off x="3603270" y="5267254"/>
            <a:ext cx="3946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Secure communication is needed to coordinate resources safely between industries and data centres.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BAA4E2-3FE9-6730-1AD5-69433F5C896A}"/>
              </a:ext>
            </a:extLst>
          </p:cNvPr>
          <p:cNvSpPr txBox="1"/>
          <p:nvPr/>
        </p:nvSpPr>
        <p:spPr>
          <a:xfrm>
            <a:off x="7963685" y="1314324"/>
            <a:ext cx="35553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The growth of AI and data centres is increasing cooling and water requirements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10F18F-25D2-CB21-721D-FEB846370484}"/>
              </a:ext>
            </a:extLst>
          </p:cNvPr>
          <p:cNvSpPr txBox="1"/>
          <p:nvPr/>
        </p:nvSpPr>
        <p:spPr>
          <a:xfrm>
            <a:off x="7963685" y="2482033"/>
            <a:ext cx="3499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Industries need better ways to reuse heat, water and energy.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6CEE5B-3920-2EFB-5D1A-68E149B3425C}"/>
              </a:ext>
            </a:extLst>
          </p:cNvPr>
          <p:cNvSpPr txBox="1"/>
          <p:nvPr/>
        </p:nvSpPr>
        <p:spPr>
          <a:xfrm>
            <a:off x="7998048" y="3446156"/>
            <a:ext cx="32609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Recovering these resources can improve water and energy efficiency.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24D1104-76CB-8FF8-1503-14D6E0EFCCDE}"/>
              </a:ext>
            </a:extLst>
          </p:cNvPr>
          <p:cNvSpPr txBox="1"/>
          <p:nvPr/>
        </p:nvSpPr>
        <p:spPr>
          <a:xfrm>
            <a:off x="7963685" y="4378342"/>
            <a:ext cx="3523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AI and real-time data can make resource sharing adaptive and efficient.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4EEDC6-2C9B-0747-6364-56856D607776}"/>
              </a:ext>
            </a:extLst>
          </p:cNvPr>
          <p:cNvSpPr txBox="1"/>
          <p:nvPr/>
        </p:nvSpPr>
        <p:spPr>
          <a:xfrm>
            <a:off x="7963685" y="5267253"/>
            <a:ext cx="3852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Secure connectivity enables safe coordination between industrial facilities and data centres.</a:t>
            </a:r>
          </a:p>
        </p:txBody>
      </p:sp>
      <p:sp>
        <p:nvSpPr>
          <p:cNvPr id="90" name="Team Badge">
            <a:extLst>
              <a:ext uri="{FF2B5EF4-FFF2-40B4-BE49-F238E27FC236}">
                <a16:creationId xmlns:a16="http://schemas.microsoft.com/office/drawing/2014/main" id="{62FC56E0-A4B8-62BB-2872-47546D467503}"/>
              </a:ext>
            </a:extLst>
          </p:cNvPr>
          <p:cNvSpPr/>
          <p:nvPr/>
        </p:nvSpPr>
        <p:spPr>
          <a:xfrm>
            <a:off x="348756" y="280933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2" name="Team Icon Hex">
            <a:extLst>
              <a:ext uri="{FF2B5EF4-FFF2-40B4-BE49-F238E27FC236}">
                <a16:creationId xmlns:a16="http://schemas.microsoft.com/office/drawing/2014/main" id="{734E8342-0F03-04D9-EC7A-21919EFB36A5}"/>
              </a:ext>
            </a:extLst>
          </p:cNvPr>
          <p:cNvSpPr/>
          <p:nvPr/>
        </p:nvSpPr>
        <p:spPr>
          <a:xfrm>
            <a:off x="495060" y="418093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4" name="Team Icon" descr="Team icon">
            <a:extLst>
              <a:ext uri="{FF2B5EF4-FFF2-40B4-BE49-F238E27FC236}">
                <a16:creationId xmlns:a16="http://schemas.microsoft.com/office/drawing/2014/main" id="{99FF780C-8FB9-A69C-042A-BBC7E55D1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8" y="509533"/>
            <a:ext cx="365760" cy="365760"/>
          </a:xfrm>
          <a:prstGeom prst="rect">
            <a:avLst/>
          </a:prstGeom>
        </p:spPr>
      </p:pic>
      <p:sp>
        <p:nvSpPr>
          <p:cNvPr id="96" name="Team Name">
            <a:extLst>
              <a:ext uri="{FF2B5EF4-FFF2-40B4-BE49-F238E27FC236}">
                <a16:creationId xmlns:a16="http://schemas.microsoft.com/office/drawing/2014/main" id="{185404D2-B3D0-6300-D90E-F9647DF406D5}"/>
              </a:ext>
            </a:extLst>
          </p:cNvPr>
          <p:cNvSpPr txBox="1"/>
          <p:nvPr/>
        </p:nvSpPr>
        <p:spPr>
          <a:xfrm>
            <a:off x="1366407" y="376723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Ryvex</a:t>
            </a:r>
            <a:endParaRPr lang="en-US" sz="2400" dirty="0"/>
          </a:p>
        </p:txBody>
      </p:sp>
      <p:sp>
        <p:nvSpPr>
          <p:cNvPr id="98" name="Lead Icon Hex">
            <a:extLst>
              <a:ext uri="{FF2B5EF4-FFF2-40B4-BE49-F238E27FC236}">
                <a16:creationId xmlns:a16="http://schemas.microsoft.com/office/drawing/2014/main" id="{417074FC-9E58-27B3-68F9-F55A9420607C}"/>
              </a:ext>
            </a:extLst>
          </p:cNvPr>
          <p:cNvSpPr/>
          <p:nvPr/>
        </p:nvSpPr>
        <p:spPr>
          <a:xfrm>
            <a:off x="3468144" y="165129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100" name="Lead Icon" descr="Lightbulb icon">
            <a:extLst>
              <a:ext uri="{FF2B5EF4-FFF2-40B4-BE49-F238E27FC236}">
                <a16:creationId xmlns:a16="http://schemas.microsoft.com/office/drawing/2014/main" id="{7AEE0FF9-B3E3-4E68-1E98-B1D8F13DD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5308" y="223652"/>
            <a:ext cx="274320" cy="306142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9D27987-6D56-5B8C-D08C-A5B0847DB0E3}"/>
              </a:ext>
            </a:extLst>
          </p:cNvPr>
          <p:cNvSpPr txBox="1"/>
          <p:nvPr/>
        </p:nvSpPr>
        <p:spPr>
          <a:xfrm>
            <a:off x="7692206" y="818774"/>
            <a:ext cx="32300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latin typeface="Arial Black" panose="020B0A04020102020204" pitchFamily="34" charset="0"/>
              </a:rPr>
              <a:t>Why is it important right now?</a:t>
            </a:r>
            <a:endParaRPr lang="en-IN" sz="1400" b="1" i="1" dirty="0">
              <a:latin typeface="Arial Black" panose="020B0A040201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1E722E5-5E21-2911-DCAF-77F619292BB8}"/>
              </a:ext>
            </a:extLst>
          </p:cNvPr>
          <p:cNvSpPr txBox="1"/>
          <p:nvPr/>
        </p:nvSpPr>
        <p:spPr>
          <a:xfrm>
            <a:off x="3515047" y="869929"/>
            <a:ext cx="3619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>
                <a:latin typeface="Arial Black" panose="020B0A04020102020204" pitchFamily="34" charset="0"/>
              </a:rPr>
              <a:t>What exactly needs to be solved?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6EAF5816-0F82-2303-F6D3-1FD724A3C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266" y="1513881"/>
            <a:ext cx="431882" cy="431882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1E4C3C81-00EE-7FA0-91DE-9614420D5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795" y="2584540"/>
            <a:ext cx="431882" cy="431882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EAFD2255-D3ED-34C9-FC89-9C4D0C1BE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830" y="3529691"/>
            <a:ext cx="431882" cy="431882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F152E219-68C8-5DBC-C1F5-AE6B0EBD6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265" y="4436322"/>
            <a:ext cx="431882" cy="431882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C9F93EFF-7ACA-0643-D270-E9B78FEAA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265" y="5475769"/>
            <a:ext cx="431882" cy="431882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479345C-A8C1-6967-BF34-DEA76593B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10" y="1370377"/>
            <a:ext cx="2429360" cy="2342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E49A15-0856-4854-D9B1-0E45E736DE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706" y="3829053"/>
            <a:ext cx="2478690" cy="23248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100000" y="-34757"/>
            <a:ext cx="675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4214" y="6848482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90" name="Team Badge">
            <a:extLst>
              <a:ext uri="{FF2B5EF4-FFF2-40B4-BE49-F238E27FC236}">
                <a16:creationId xmlns:a16="http://schemas.microsoft.com/office/drawing/2014/main" id="{62FC56E0-A4B8-62BB-2872-47546D467503}"/>
              </a:ext>
            </a:extLst>
          </p:cNvPr>
          <p:cNvSpPr/>
          <p:nvPr/>
        </p:nvSpPr>
        <p:spPr>
          <a:xfrm>
            <a:off x="348756" y="280933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2" name="Team Icon Hex">
            <a:extLst>
              <a:ext uri="{FF2B5EF4-FFF2-40B4-BE49-F238E27FC236}">
                <a16:creationId xmlns:a16="http://schemas.microsoft.com/office/drawing/2014/main" id="{734E8342-0F03-04D9-EC7A-21919EFB36A5}"/>
              </a:ext>
            </a:extLst>
          </p:cNvPr>
          <p:cNvSpPr/>
          <p:nvPr/>
        </p:nvSpPr>
        <p:spPr>
          <a:xfrm>
            <a:off x="495060" y="418093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4" name="Team Icon" descr="Team icon">
            <a:extLst>
              <a:ext uri="{FF2B5EF4-FFF2-40B4-BE49-F238E27FC236}">
                <a16:creationId xmlns:a16="http://schemas.microsoft.com/office/drawing/2014/main" id="{99FF780C-8FB9-A69C-042A-BBC7E55D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8" y="509533"/>
            <a:ext cx="365760" cy="365760"/>
          </a:xfrm>
          <a:prstGeom prst="rect">
            <a:avLst/>
          </a:prstGeom>
        </p:spPr>
      </p:pic>
      <p:sp>
        <p:nvSpPr>
          <p:cNvPr id="96" name="Team Name">
            <a:extLst>
              <a:ext uri="{FF2B5EF4-FFF2-40B4-BE49-F238E27FC236}">
                <a16:creationId xmlns:a16="http://schemas.microsoft.com/office/drawing/2014/main" id="{185404D2-B3D0-6300-D90E-F9647DF406D5}"/>
              </a:ext>
            </a:extLst>
          </p:cNvPr>
          <p:cNvSpPr txBox="1"/>
          <p:nvPr/>
        </p:nvSpPr>
        <p:spPr>
          <a:xfrm>
            <a:off x="1366407" y="376723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Ryvex</a:t>
            </a:r>
            <a:endParaRPr lang="en-US" sz="2400" dirty="0"/>
          </a:p>
        </p:txBody>
      </p:sp>
      <p:sp>
        <p:nvSpPr>
          <p:cNvPr id="98" name="Lead Icon Hex">
            <a:extLst>
              <a:ext uri="{FF2B5EF4-FFF2-40B4-BE49-F238E27FC236}">
                <a16:creationId xmlns:a16="http://schemas.microsoft.com/office/drawing/2014/main" id="{417074FC-9E58-27B3-68F9-F55A9420607C}"/>
              </a:ext>
            </a:extLst>
          </p:cNvPr>
          <p:cNvSpPr/>
          <p:nvPr/>
        </p:nvSpPr>
        <p:spPr>
          <a:xfrm>
            <a:off x="3468144" y="165129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100" name="Lead Icon" descr="Lightbulb icon">
            <a:extLst>
              <a:ext uri="{FF2B5EF4-FFF2-40B4-BE49-F238E27FC236}">
                <a16:creationId xmlns:a16="http://schemas.microsoft.com/office/drawing/2014/main" id="{7AEE0FF9-B3E3-4E68-1E98-B1D8F13D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308" y="223652"/>
            <a:ext cx="274320" cy="306142"/>
          </a:xfrm>
          <a:prstGeom prst="rect">
            <a:avLst/>
          </a:prstGeom>
        </p:spPr>
      </p:pic>
      <p:sp>
        <p:nvSpPr>
          <p:cNvPr id="318" name="Subhead 318"/>
          <p:cNvSpPr/>
          <p:nvPr/>
        </p:nvSpPr>
        <p:spPr>
          <a:xfrm>
            <a:off x="366207" y="1518297"/>
            <a:ext cx="114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users, stakeholders and beneficiaries</a:t>
            </a:r>
          </a:p>
        </p:txBody>
      </p:sp>
      <p:sp>
        <p:nvSpPr>
          <p:cNvPr id="319" name="Card 319"/>
          <p:cNvSpPr/>
          <p:nvPr/>
        </p:nvSpPr>
        <p:spPr>
          <a:xfrm>
            <a:off x="366207" y="2188537"/>
            <a:ext cx="3650000" cy="3915483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20" name="Card Head 320"/>
          <p:cNvSpPr/>
          <p:nvPr/>
        </p:nvSpPr>
        <p:spPr>
          <a:xfrm>
            <a:off x="366207" y="2188538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              Primary users</a:t>
            </a:r>
          </a:p>
        </p:txBody>
      </p:sp>
      <p:sp>
        <p:nvSpPr>
          <p:cNvPr id="321" name="Card Body 321"/>
          <p:cNvSpPr/>
          <p:nvPr/>
        </p:nvSpPr>
        <p:spPr>
          <a:xfrm>
            <a:off x="293963" y="2788538"/>
            <a:ext cx="3650000" cy="1895429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endParaRPr lang="en-IN" sz="1400" b="0" i="0" dirty="0">
              <a:solidFill>
                <a:schemeClr val="tx2"/>
              </a:solidFill>
            </a:endParaRPr>
          </a:p>
        </p:txBody>
      </p:sp>
      <p:sp>
        <p:nvSpPr>
          <p:cNvPr id="322" name="Card 322"/>
          <p:cNvSpPr/>
          <p:nvPr/>
        </p:nvSpPr>
        <p:spPr>
          <a:xfrm>
            <a:off x="4216207" y="2188538"/>
            <a:ext cx="3650000" cy="391548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 dirty="0"/>
          </a:p>
        </p:txBody>
      </p:sp>
      <p:sp>
        <p:nvSpPr>
          <p:cNvPr id="323" name="Card Head 323"/>
          <p:cNvSpPr/>
          <p:nvPr/>
        </p:nvSpPr>
        <p:spPr>
          <a:xfrm>
            <a:off x="4216207" y="2188538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                Secondary stakeholders</a:t>
            </a:r>
          </a:p>
        </p:txBody>
      </p:sp>
      <p:sp>
        <p:nvSpPr>
          <p:cNvPr id="324" name="Card Body 324"/>
          <p:cNvSpPr/>
          <p:nvPr/>
        </p:nvSpPr>
        <p:spPr>
          <a:xfrm>
            <a:off x="4143963" y="2788538"/>
            <a:ext cx="3722244" cy="1574915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lvl="0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City Water Boards: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Officials pushing to preserve drinking water and stop groundwater depletion. </a:t>
            </a:r>
          </a:p>
          <a:p>
            <a:pPr lvl="0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Power Grid Companies (DISCOMs):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Electricity providers wanting to ease heavy power demand during peak hours. </a:t>
            </a:r>
          </a:p>
          <a:p>
            <a:pPr lvl="0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Environmental Regulators: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Pollution control boards monitoring thermal waste and industrial emissions. </a:t>
            </a:r>
          </a:p>
          <a:p>
            <a:pPr lvl="0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Equipment Partners: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Companies supplying industrial heat recovery units and water filtration systems. </a:t>
            </a:r>
          </a:p>
        </p:txBody>
      </p:sp>
      <p:sp>
        <p:nvSpPr>
          <p:cNvPr id="325" name="Card 325"/>
          <p:cNvSpPr/>
          <p:nvPr/>
        </p:nvSpPr>
        <p:spPr>
          <a:xfrm>
            <a:off x="8066207" y="2188537"/>
            <a:ext cx="3650000" cy="3889703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26" name="Card Head 326"/>
          <p:cNvSpPr/>
          <p:nvPr/>
        </p:nvSpPr>
        <p:spPr>
          <a:xfrm>
            <a:off x="8066207" y="2188538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                 Who benefits if solved</a:t>
            </a:r>
          </a:p>
        </p:txBody>
      </p:sp>
      <p:sp>
        <p:nvSpPr>
          <p:cNvPr id="327" name="Card Body 327"/>
          <p:cNvSpPr/>
          <p:nvPr/>
        </p:nvSpPr>
        <p:spPr>
          <a:xfrm>
            <a:off x="7993961" y="2788538"/>
            <a:ext cx="3831831" cy="3195167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lvl="0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Local Cities &amp; Communities: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Save freshwater by reducing water loss and improving water reuse.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Industrial Plants: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Earn new revenue by selling heat and steam instead of venting them as waste. </a:t>
            </a:r>
          </a:p>
          <a:p>
            <a:pPr lvl="0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Centers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Cut monthly electricity and water bills while lowering their carbon footprint. </a:t>
            </a: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 Environment: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Reduce energy waste, carbon emissions, and pressure on freshwater resources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600" b="0" i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03C14-92BF-9A2E-6811-E45D9518C8B0}"/>
              </a:ext>
            </a:extLst>
          </p:cNvPr>
          <p:cNvSpPr txBox="1"/>
          <p:nvPr/>
        </p:nvSpPr>
        <p:spPr>
          <a:xfrm>
            <a:off x="357844" y="2727700"/>
            <a:ext cx="34617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en-IN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Nearby Data </a:t>
            </a:r>
            <a:r>
              <a:rPr lang="en-IN" sz="16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IN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Operators:</a:t>
            </a:r>
            <a:r>
              <a:rPr lang="en-IN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Hyperscale and server farm managers looking to cut cooling costs and water usage. </a:t>
            </a:r>
          </a:p>
          <a:p>
            <a:pPr marR="0" lvl="0"/>
            <a:r>
              <a:rPr lang="en-IN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Industrial Plant Managers:</a:t>
            </a:r>
          </a:p>
          <a:p>
            <a:pPr marR="0" lvl="0"/>
            <a:r>
              <a:rPr lang="en-IN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Energy leaders in heat-heavy factories (textiles, paper, chemicals, cement) wanting to turn exhaust into revenue.</a:t>
            </a:r>
          </a:p>
          <a:p>
            <a:pPr marR="0" lvl="0"/>
            <a:r>
              <a:rPr lang="en-IN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On-Site Cooling Engineers:</a:t>
            </a:r>
            <a:r>
              <a:rPr lang="en-IN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Plant teams operating absorption chillers, water filters, and cooling towers</a:t>
            </a:r>
          </a:p>
        </p:txBody>
      </p:sp>
      <p:pic>
        <p:nvPicPr>
          <p:cNvPr id="5" name="Picture 4" descr="User Basic Rounded Filled icon | Magnific (formerly Freepik)">
            <a:extLst>
              <a:ext uri="{FF2B5EF4-FFF2-40B4-BE49-F238E27FC236}">
                <a16:creationId xmlns:a16="http://schemas.microsoft.com/office/drawing/2014/main" id="{E166A1A0-BA1D-C224-7F41-96C1BDE78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95" y="2081695"/>
            <a:ext cx="606005" cy="606005"/>
          </a:xfrm>
          <a:prstGeom prst="rect">
            <a:avLst/>
          </a:prstGeom>
        </p:spPr>
      </p:pic>
      <p:pic>
        <p:nvPicPr>
          <p:cNvPr id="6" name="Picture 5" descr="Stakeholders Animated Icon | Free people Animated Icon">
            <a:extLst>
              <a:ext uri="{FF2B5EF4-FFF2-40B4-BE49-F238E27FC236}">
                <a16:creationId xmlns:a16="http://schemas.microsoft.com/office/drawing/2014/main" id="{A7385944-13FB-DA63-A3D3-795EE1C47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07" y="1970145"/>
            <a:ext cx="818393" cy="818393"/>
          </a:xfrm>
          <a:prstGeom prst="rect">
            <a:avLst/>
          </a:prstGeom>
        </p:spPr>
      </p:pic>
      <p:pic>
        <p:nvPicPr>
          <p:cNvPr id="7" name="Picture 6" descr="Benefit - Free business and finance icons">
            <a:extLst>
              <a:ext uri="{FF2B5EF4-FFF2-40B4-BE49-F238E27FC236}">
                <a16:creationId xmlns:a16="http://schemas.microsoft.com/office/drawing/2014/main" id="{62D7AEF7-9E2E-E4FA-FCAC-023682564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30" y="1961454"/>
            <a:ext cx="726246" cy="726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100000" y="-34757"/>
            <a:ext cx="675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90" name="Team Badge">
            <a:extLst>
              <a:ext uri="{FF2B5EF4-FFF2-40B4-BE49-F238E27FC236}">
                <a16:creationId xmlns:a16="http://schemas.microsoft.com/office/drawing/2014/main" id="{62FC56E0-A4B8-62BB-2872-47546D467503}"/>
              </a:ext>
            </a:extLst>
          </p:cNvPr>
          <p:cNvSpPr/>
          <p:nvPr/>
        </p:nvSpPr>
        <p:spPr>
          <a:xfrm>
            <a:off x="348756" y="280933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2" name="Team Icon Hex">
            <a:extLst>
              <a:ext uri="{FF2B5EF4-FFF2-40B4-BE49-F238E27FC236}">
                <a16:creationId xmlns:a16="http://schemas.microsoft.com/office/drawing/2014/main" id="{734E8342-0F03-04D9-EC7A-21919EFB36A5}"/>
              </a:ext>
            </a:extLst>
          </p:cNvPr>
          <p:cNvSpPr/>
          <p:nvPr/>
        </p:nvSpPr>
        <p:spPr>
          <a:xfrm>
            <a:off x="495060" y="418093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4" name="Team Icon" descr="Team icon">
            <a:extLst>
              <a:ext uri="{FF2B5EF4-FFF2-40B4-BE49-F238E27FC236}">
                <a16:creationId xmlns:a16="http://schemas.microsoft.com/office/drawing/2014/main" id="{99FF780C-8FB9-A69C-042A-BBC7E55D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8" y="509533"/>
            <a:ext cx="365760" cy="365760"/>
          </a:xfrm>
          <a:prstGeom prst="rect">
            <a:avLst/>
          </a:prstGeom>
        </p:spPr>
      </p:pic>
      <p:sp>
        <p:nvSpPr>
          <p:cNvPr id="96" name="Team Name">
            <a:extLst>
              <a:ext uri="{FF2B5EF4-FFF2-40B4-BE49-F238E27FC236}">
                <a16:creationId xmlns:a16="http://schemas.microsoft.com/office/drawing/2014/main" id="{185404D2-B3D0-6300-D90E-F9647DF406D5}"/>
              </a:ext>
            </a:extLst>
          </p:cNvPr>
          <p:cNvSpPr txBox="1"/>
          <p:nvPr/>
        </p:nvSpPr>
        <p:spPr>
          <a:xfrm>
            <a:off x="1366407" y="376723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Ryvex</a:t>
            </a:r>
            <a:endParaRPr lang="en-US" sz="2400" dirty="0"/>
          </a:p>
        </p:txBody>
      </p:sp>
      <p:sp>
        <p:nvSpPr>
          <p:cNvPr id="98" name="Lead Icon Hex">
            <a:extLst>
              <a:ext uri="{FF2B5EF4-FFF2-40B4-BE49-F238E27FC236}">
                <a16:creationId xmlns:a16="http://schemas.microsoft.com/office/drawing/2014/main" id="{417074FC-9E58-27B3-68F9-F55A9420607C}"/>
              </a:ext>
            </a:extLst>
          </p:cNvPr>
          <p:cNvSpPr/>
          <p:nvPr/>
        </p:nvSpPr>
        <p:spPr>
          <a:xfrm>
            <a:off x="3468144" y="165129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100" name="Lead Icon" descr="Lightbulb icon">
            <a:extLst>
              <a:ext uri="{FF2B5EF4-FFF2-40B4-BE49-F238E27FC236}">
                <a16:creationId xmlns:a16="http://schemas.microsoft.com/office/drawing/2014/main" id="{7AEE0FF9-B3E3-4E68-1E98-B1D8F13D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308" y="223652"/>
            <a:ext cx="274320" cy="306142"/>
          </a:xfrm>
          <a:prstGeom prst="rect">
            <a:avLst/>
          </a:prstGeom>
        </p:spPr>
      </p:pic>
      <p:sp>
        <p:nvSpPr>
          <p:cNvPr id="328" name="Subhead 328"/>
          <p:cNvSpPr/>
          <p:nvPr/>
        </p:nvSpPr>
        <p:spPr>
          <a:xfrm>
            <a:off x="348756" y="1200000"/>
            <a:ext cx="6571244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scenario, relevant facts and the workflow today</a:t>
            </a:r>
          </a:p>
        </p:txBody>
      </p:sp>
      <p:sp>
        <p:nvSpPr>
          <p:cNvPr id="329" name="Stat Card 329"/>
          <p:cNvSpPr/>
          <p:nvPr/>
        </p:nvSpPr>
        <p:spPr>
          <a:xfrm>
            <a:off x="348756" y="2040443"/>
            <a:ext cx="2750000" cy="1669557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30" name="Stat 330"/>
          <p:cNvSpPr/>
          <p:nvPr/>
        </p:nvSpPr>
        <p:spPr>
          <a:xfrm>
            <a:off x="348756" y="2116107"/>
            <a:ext cx="27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2600" b="1" i="0" dirty="0">
                <a:solidFill>
                  <a:schemeClr val="accent1"/>
                </a:solidFill>
                <a:latin typeface="Cambria"/>
              </a:rPr>
              <a:t>415 → 945 TWh</a:t>
            </a:r>
          </a:p>
        </p:txBody>
      </p:sp>
      <p:sp>
        <p:nvSpPr>
          <p:cNvPr id="331" name="Stat Label 331"/>
          <p:cNvSpPr/>
          <p:nvPr/>
        </p:nvSpPr>
        <p:spPr>
          <a:xfrm>
            <a:off x="348756" y="2866107"/>
            <a:ext cx="27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0" i="0" dirty="0">
                <a:solidFill>
                  <a:schemeClr val="tx2"/>
                </a:solidFill>
              </a:rPr>
              <a:t>Global data-centre electricity, 2024 to 2030 (IEA)</a:t>
            </a:r>
          </a:p>
        </p:txBody>
      </p:sp>
      <p:sp>
        <p:nvSpPr>
          <p:cNvPr id="332" name="Stat Card 332"/>
          <p:cNvSpPr/>
          <p:nvPr/>
        </p:nvSpPr>
        <p:spPr>
          <a:xfrm>
            <a:off x="3298756" y="2040443"/>
            <a:ext cx="2750000" cy="167672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33" name="Stat 333"/>
          <p:cNvSpPr/>
          <p:nvPr/>
        </p:nvSpPr>
        <p:spPr>
          <a:xfrm>
            <a:off x="3298756" y="2116107"/>
            <a:ext cx="27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2600" b="1" i="0" dirty="0">
                <a:solidFill>
                  <a:schemeClr val="accent1"/>
                </a:solidFill>
                <a:latin typeface="Cambria"/>
              </a:rPr>
              <a:t>20-50%</a:t>
            </a:r>
          </a:p>
        </p:txBody>
      </p:sp>
      <p:sp>
        <p:nvSpPr>
          <p:cNvPr id="334" name="Stat Label 334"/>
          <p:cNvSpPr/>
          <p:nvPr/>
        </p:nvSpPr>
        <p:spPr>
          <a:xfrm>
            <a:off x="3298756" y="2866107"/>
            <a:ext cx="27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0" i="0" dirty="0">
                <a:solidFill>
                  <a:schemeClr val="tx2"/>
                </a:solidFill>
              </a:rPr>
              <a:t>of industrial energy input is lost as waste heat (US DOE)</a:t>
            </a:r>
          </a:p>
        </p:txBody>
      </p:sp>
      <p:sp>
        <p:nvSpPr>
          <p:cNvPr id="335" name="Stat Card 335"/>
          <p:cNvSpPr/>
          <p:nvPr/>
        </p:nvSpPr>
        <p:spPr>
          <a:xfrm>
            <a:off x="348756" y="3975664"/>
            <a:ext cx="2750000" cy="1498229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36" name="Stat 336"/>
          <p:cNvSpPr/>
          <p:nvPr/>
        </p:nvSpPr>
        <p:spPr>
          <a:xfrm>
            <a:off x="348756" y="4000000"/>
            <a:ext cx="27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2600" b="1" i="0" dirty="0">
                <a:solidFill>
                  <a:schemeClr val="accent1"/>
                </a:solidFill>
                <a:latin typeface="Cambria"/>
              </a:rPr>
              <a:t>~150 bn L</a:t>
            </a:r>
          </a:p>
        </p:txBody>
      </p:sp>
      <p:sp>
        <p:nvSpPr>
          <p:cNvPr id="337" name="Stat Label 337"/>
          <p:cNvSpPr/>
          <p:nvPr/>
        </p:nvSpPr>
        <p:spPr>
          <a:xfrm>
            <a:off x="348756" y="4750000"/>
            <a:ext cx="27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0" i="0" dirty="0">
                <a:solidFill>
                  <a:schemeClr val="tx2"/>
                </a:solidFill>
              </a:rPr>
              <a:t>water a year used by India's data centres (2024-25 est.)</a:t>
            </a:r>
          </a:p>
        </p:txBody>
      </p:sp>
      <p:sp>
        <p:nvSpPr>
          <p:cNvPr id="338" name="Stat Card 338"/>
          <p:cNvSpPr/>
          <p:nvPr/>
        </p:nvSpPr>
        <p:spPr>
          <a:xfrm>
            <a:off x="3298756" y="3975664"/>
            <a:ext cx="2750000" cy="1498229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39" name="Stat 339"/>
          <p:cNvSpPr/>
          <p:nvPr/>
        </p:nvSpPr>
        <p:spPr>
          <a:xfrm>
            <a:off x="3298756" y="4000000"/>
            <a:ext cx="27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2600" b="1" i="0" dirty="0">
                <a:solidFill>
                  <a:schemeClr val="accent1"/>
                </a:solidFill>
                <a:latin typeface="Cambria"/>
              </a:rPr>
              <a:t>&gt;70%</a:t>
            </a:r>
          </a:p>
        </p:txBody>
      </p:sp>
      <p:sp>
        <p:nvSpPr>
          <p:cNvPr id="340" name="Stat Label 340"/>
          <p:cNvSpPr/>
          <p:nvPr/>
        </p:nvSpPr>
        <p:spPr>
          <a:xfrm>
            <a:off x="3298756" y="4750000"/>
            <a:ext cx="27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0" i="0" dirty="0">
                <a:solidFill>
                  <a:schemeClr val="tx2"/>
                </a:solidFill>
              </a:rPr>
              <a:t>of India's data-centre capacity sits in Mumbai and Chennai</a:t>
            </a:r>
          </a:p>
        </p:txBody>
      </p:sp>
      <p:sp>
        <p:nvSpPr>
          <p:cNvPr id="341" name="Flow Head 341"/>
          <p:cNvSpPr/>
          <p:nvPr/>
        </p:nvSpPr>
        <p:spPr>
          <a:xfrm>
            <a:off x="6500000" y="1750000"/>
            <a:ext cx="525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latin typeface="Cambria"/>
              </a:rPr>
              <a:t>How it works today</a:t>
            </a:r>
          </a:p>
        </p:txBody>
      </p:sp>
      <p:sp>
        <p:nvSpPr>
          <p:cNvPr id="342" name="Num 342"/>
          <p:cNvSpPr/>
          <p:nvPr/>
        </p:nvSpPr>
        <p:spPr>
          <a:xfrm>
            <a:off x="6500000" y="2544600"/>
            <a:ext cx="420000" cy="365400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43" name="Flow Step 343"/>
          <p:cNvSpPr/>
          <p:nvPr/>
        </p:nvSpPr>
        <p:spPr>
          <a:xfrm>
            <a:off x="7150000" y="2250000"/>
            <a:ext cx="46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b="0" i="0" dirty="0">
                <a:solidFill>
                  <a:schemeClr val="tx2"/>
                </a:solidFill>
              </a:rPr>
              <a:t>Plants vent hot exhaust and vapour through stacks and cooling towers.</a:t>
            </a:r>
          </a:p>
        </p:txBody>
      </p:sp>
      <p:sp>
        <p:nvSpPr>
          <p:cNvPr id="344" name="Num 344"/>
          <p:cNvSpPr/>
          <p:nvPr/>
        </p:nvSpPr>
        <p:spPr>
          <a:xfrm>
            <a:off x="6500000" y="3371900"/>
            <a:ext cx="420000" cy="365400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1" i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45" name="Flow Step 345"/>
          <p:cNvSpPr/>
          <p:nvPr/>
        </p:nvSpPr>
        <p:spPr>
          <a:xfrm>
            <a:off x="7150000" y="3150000"/>
            <a:ext cx="46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b="0" i="0" dirty="0">
                <a:solidFill>
                  <a:schemeClr val="tx2"/>
                </a:solidFill>
              </a:rPr>
              <a:t>Data centres run chillers and evaporative towers on grid power and fresh water.</a:t>
            </a:r>
          </a:p>
        </p:txBody>
      </p:sp>
      <p:sp>
        <p:nvSpPr>
          <p:cNvPr id="346" name="Num 346"/>
          <p:cNvSpPr/>
          <p:nvPr/>
        </p:nvSpPr>
        <p:spPr>
          <a:xfrm>
            <a:off x="6500000" y="4272955"/>
            <a:ext cx="420000" cy="365400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1" i="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47" name="Flow Step 347"/>
          <p:cNvSpPr/>
          <p:nvPr/>
        </p:nvSpPr>
        <p:spPr>
          <a:xfrm>
            <a:off x="7150000" y="4050000"/>
            <a:ext cx="46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b="0" i="0" dirty="0">
                <a:solidFill>
                  <a:schemeClr val="tx2"/>
                </a:solidFill>
              </a:rPr>
              <a:t>The two sides share no data, forecast or contract</a:t>
            </a:r>
            <a:r>
              <a:rPr lang="en-IN" sz="1400" b="0" i="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348" name="Num 348"/>
          <p:cNvSpPr/>
          <p:nvPr/>
        </p:nvSpPr>
        <p:spPr>
          <a:xfrm>
            <a:off x="6500000" y="5167300"/>
            <a:ext cx="420000" cy="365400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400" b="1" i="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9" name="Flow Step 349"/>
          <p:cNvSpPr/>
          <p:nvPr/>
        </p:nvSpPr>
        <p:spPr>
          <a:xfrm>
            <a:off x="7150000" y="4950000"/>
            <a:ext cx="46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b="0" i="0" dirty="0">
                <a:solidFill>
                  <a:schemeClr val="tx2"/>
                </a:solidFill>
              </a:rPr>
              <a:t>Each pays for what the other throws away.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722856" y="-26808"/>
            <a:ext cx="26367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90" name="Team Badge">
            <a:extLst>
              <a:ext uri="{FF2B5EF4-FFF2-40B4-BE49-F238E27FC236}">
                <a16:creationId xmlns:a16="http://schemas.microsoft.com/office/drawing/2014/main" id="{62FC56E0-A4B8-62BB-2872-47546D467503}"/>
              </a:ext>
            </a:extLst>
          </p:cNvPr>
          <p:cNvSpPr/>
          <p:nvPr/>
        </p:nvSpPr>
        <p:spPr>
          <a:xfrm>
            <a:off x="348756" y="280933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2" name="Team Icon Hex">
            <a:extLst>
              <a:ext uri="{FF2B5EF4-FFF2-40B4-BE49-F238E27FC236}">
                <a16:creationId xmlns:a16="http://schemas.microsoft.com/office/drawing/2014/main" id="{734E8342-0F03-04D9-EC7A-21919EFB36A5}"/>
              </a:ext>
            </a:extLst>
          </p:cNvPr>
          <p:cNvSpPr/>
          <p:nvPr/>
        </p:nvSpPr>
        <p:spPr>
          <a:xfrm>
            <a:off x="495060" y="418093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4" name="Team Icon" descr="Team icon">
            <a:extLst>
              <a:ext uri="{FF2B5EF4-FFF2-40B4-BE49-F238E27FC236}">
                <a16:creationId xmlns:a16="http://schemas.microsoft.com/office/drawing/2014/main" id="{99FF780C-8FB9-A69C-042A-BBC7E55D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8" y="509533"/>
            <a:ext cx="365760" cy="365760"/>
          </a:xfrm>
          <a:prstGeom prst="rect">
            <a:avLst/>
          </a:prstGeom>
        </p:spPr>
      </p:pic>
      <p:sp>
        <p:nvSpPr>
          <p:cNvPr id="96" name="Team Name">
            <a:extLst>
              <a:ext uri="{FF2B5EF4-FFF2-40B4-BE49-F238E27FC236}">
                <a16:creationId xmlns:a16="http://schemas.microsoft.com/office/drawing/2014/main" id="{185404D2-B3D0-6300-D90E-F9647DF406D5}"/>
              </a:ext>
            </a:extLst>
          </p:cNvPr>
          <p:cNvSpPr txBox="1"/>
          <p:nvPr/>
        </p:nvSpPr>
        <p:spPr>
          <a:xfrm>
            <a:off x="1366407" y="376723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Ryvex</a:t>
            </a:r>
            <a:endParaRPr lang="en-US" sz="2400" dirty="0"/>
          </a:p>
        </p:txBody>
      </p:sp>
      <p:sp>
        <p:nvSpPr>
          <p:cNvPr id="98" name="Lead Icon Hex">
            <a:extLst>
              <a:ext uri="{FF2B5EF4-FFF2-40B4-BE49-F238E27FC236}">
                <a16:creationId xmlns:a16="http://schemas.microsoft.com/office/drawing/2014/main" id="{417074FC-9E58-27B3-68F9-F55A9420607C}"/>
              </a:ext>
            </a:extLst>
          </p:cNvPr>
          <p:cNvSpPr/>
          <p:nvPr/>
        </p:nvSpPr>
        <p:spPr>
          <a:xfrm>
            <a:off x="4216207" y="165129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0" name="Lead Icon" descr="Lightbulb icon">
            <a:extLst>
              <a:ext uri="{FF2B5EF4-FFF2-40B4-BE49-F238E27FC236}">
                <a16:creationId xmlns:a16="http://schemas.microsoft.com/office/drawing/2014/main" id="{7AEE0FF9-B3E3-4E68-1E98-B1D8F13D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371" y="223652"/>
            <a:ext cx="274320" cy="306142"/>
          </a:xfrm>
          <a:prstGeom prst="rect">
            <a:avLst/>
          </a:prstGeom>
        </p:spPr>
      </p:pic>
      <p:sp>
        <p:nvSpPr>
          <p:cNvPr id="351" name="Subhead 351"/>
          <p:cNvSpPr/>
          <p:nvPr/>
        </p:nvSpPr>
        <p:spPr>
          <a:xfrm>
            <a:off x="366207" y="1474944"/>
            <a:ext cx="114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difficulties, root causes and consequences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B8E89FA-AF1E-8A02-752C-2BB875C635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3219523"/>
              </p:ext>
            </p:extLst>
          </p:nvPr>
        </p:nvGraphicFramePr>
        <p:xfrm>
          <a:off x="1058779" y="509533"/>
          <a:ext cx="10122568" cy="5835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075593" y="-48384"/>
            <a:ext cx="675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90" name="Team Badge">
            <a:extLst>
              <a:ext uri="{FF2B5EF4-FFF2-40B4-BE49-F238E27FC236}">
                <a16:creationId xmlns:a16="http://schemas.microsoft.com/office/drawing/2014/main" id="{62FC56E0-A4B8-62BB-2872-47546D467503}"/>
              </a:ext>
            </a:extLst>
          </p:cNvPr>
          <p:cNvSpPr/>
          <p:nvPr/>
        </p:nvSpPr>
        <p:spPr>
          <a:xfrm>
            <a:off x="348756" y="280933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2" name="Team Icon Hex">
            <a:extLst>
              <a:ext uri="{FF2B5EF4-FFF2-40B4-BE49-F238E27FC236}">
                <a16:creationId xmlns:a16="http://schemas.microsoft.com/office/drawing/2014/main" id="{734E8342-0F03-04D9-EC7A-21919EFB36A5}"/>
              </a:ext>
            </a:extLst>
          </p:cNvPr>
          <p:cNvSpPr/>
          <p:nvPr/>
        </p:nvSpPr>
        <p:spPr>
          <a:xfrm>
            <a:off x="495060" y="418093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4" name="Team Icon" descr="Team icon">
            <a:extLst>
              <a:ext uri="{FF2B5EF4-FFF2-40B4-BE49-F238E27FC236}">
                <a16:creationId xmlns:a16="http://schemas.microsoft.com/office/drawing/2014/main" id="{99FF780C-8FB9-A69C-042A-BBC7E55D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8" y="509533"/>
            <a:ext cx="365760" cy="365760"/>
          </a:xfrm>
          <a:prstGeom prst="rect">
            <a:avLst/>
          </a:prstGeom>
        </p:spPr>
      </p:pic>
      <p:sp>
        <p:nvSpPr>
          <p:cNvPr id="96" name="Team Name">
            <a:extLst>
              <a:ext uri="{FF2B5EF4-FFF2-40B4-BE49-F238E27FC236}">
                <a16:creationId xmlns:a16="http://schemas.microsoft.com/office/drawing/2014/main" id="{185404D2-B3D0-6300-D90E-F9647DF406D5}"/>
              </a:ext>
            </a:extLst>
          </p:cNvPr>
          <p:cNvSpPr txBox="1"/>
          <p:nvPr/>
        </p:nvSpPr>
        <p:spPr>
          <a:xfrm>
            <a:off x="1366407" y="376723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Ryvex</a:t>
            </a:r>
            <a:endParaRPr lang="en-US" sz="2400" dirty="0"/>
          </a:p>
        </p:txBody>
      </p:sp>
      <p:sp>
        <p:nvSpPr>
          <p:cNvPr id="98" name="Lead Icon Hex">
            <a:extLst>
              <a:ext uri="{FF2B5EF4-FFF2-40B4-BE49-F238E27FC236}">
                <a16:creationId xmlns:a16="http://schemas.microsoft.com/office/drawing/2014/main" id="{417074FC-9E58-27B3-68F9-F55A9420607C}"/>
              </a:ext>
            </a:extLst>
          </p:cNvPr>
          <p:cNvSpPr/>
          <p:nvPr/>
        </p:nvSpPr>
        <p:spPr>
          <a:xfrm>
            <a:off x="3468144" y="165129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100" name="Lead Icon" descr="Lightbulb icon">
            <a:extLst>
              <a:ext uri="{FF2B5EF4-FFF2-40B4-BE49-F238E27FC236}">
                <a16:creationId xmlns:a16="http://schemas.microsoft.com/office/drawing/2014/main" id="{7AEE0FF9-B3E3-4E68-1E98-B1D8F13D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308" y="223652"/>
            <a:ext cx="274320" cy="306142"/>
          </a:xfrm>
          <a:prstGeom prst="rect">
            <a:avLst/>
          </a:prstGeom>
        </p:spPr>
      </p:pic>
      <p:sp>
        <p:nvSpPr>
          <p:cNvPr id="361" name="Subhead 361"/>
          <p:cNvSpPr/>
          <p:nvPr/>
        </p:nvSpPr>
        <p:spPr>
          <a:xfrm>
            <a:off x="348756" y="1200000"/>
            <a:ext cx="114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already being done, and the gap it leaves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A5301BF-BAB8-7E09-0AB2-73E331B203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075909"/>
              </p:ext>
            </p:extLst>
          </p:nvPr>
        </p:nvGraphicFramePr>
        <p:xfrm>
          <a:off x="1125996" y="1529316"/>
          <a:ext cx="10801309" cy="4735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Picture 8" descr="Available Solutions | LinkedIn">
            <a:extLst>
              <a:ext uri="{FF2B5EF4-FFF2-40B4-BE49-F238E27FC236}">
                <a16:creationId xmlns:a16="http://schemas.microsoft.com/office/drawing/2014/main" id="{86F4B7B4-CD96-D8FE-E005-7D9AA9C6F9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261" y="1710603"/>
            <a:ext cx="1047285" cy="1047285"/>
          </a:xfrm>
          <a:prstGeom prst="rect">
            <a:avLst/>
          </a:prstGeom>
        </p:spPr>
      </p:pic>
      <p:pic>
        <p:nvPicPr>
          <p:cNvPr id="10" name="Picture 9" descr="Today - Apps on Google Play">
            <a:extLst>
              <a:ext uri="{FF2B5EF4-FFF2-40B4-BE49-F238E27FC236}">
                <a16:creationId xmlns:a16="http://schemas.microsoft.com/office/drawing/2014/main" id="{99415B92-39EA-03B4-CFCD-6A070CD2CB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8398" y="1716107"/>
            <a:ext cx="1047285" cy="1047285"/>
          </a:xfrm>
          <a:prstGeom prst="rect">
            <a:avLst/>
          </a:prstGeom>
        </p:spPr>
      </p:pic>
      <p:pic>
        <p:nvPicPr>
          <p:cNvPr id="11" name="Picture 10" descr="The GAP Arts Project | Birmingham, England | Creativity, Culture, Community">
            <a:extLst>
              <a:ext uri="{FF2B5EF4-FFF2-40B4-BE49-F238E27FC236}">
                <a16:creationId xmlns:a16="http://schemas.microsoft.com/office/drawing/2014/main" id="{548A66E1-5869-7AAA-541A-E7FE29218F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0561" y="1716106"/>
            <a:ext cx="1047286" cy="1047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075593" y="-34757"/>
            <a:ext cx="675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90" name="Team Badge">
            <a:extLst>
              <a:ext uri="{FF2B5EF4-FFF2-40B4-BE49-F238E27FC236}">
                <a16:creationId xmlns:a16="http://schemas.microsoft.com/office/drawing/2014/main" id="{62FC56E0-A4B8-62BB-2872-47546D467503}"/>
              </a:ext>
            </a:extLst>
          </p:cNvPr>
          <p:cNvSpPr/>
          <p:nvPr/>
        </p:nvSpPr>
        <p:spPr>
          <a:xfrm>
            <a:off x="348756" y="280933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2" name="Team Icon Hex">
            <a:extLst>
              <a:ext uri="{FF2B5EF4-FFF2-40B4-BE49-F238E27FC236}">
                <a16:creationId xmlns:a16="http://schemas.microsoft.com/office/drawing/2014/main" id="{734E8342-0F03-04D9-EC7A-21919EFB36A5}"/>
              </a:ext>
            </a:extLst>
          </p:cNvPr>
          <p:cNvSpPr/>
          <p:nvPr/>
        </p:nvSpPr>
        <p:spPr>
          <a:xfrm>
            <a:off x="495060" y="418093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4" name="Team Icon" descr="Team icon">
            <a:extLst>
              <a:ext uri="{FF2B5EF4-FFF2-40B4-BE49-F238E27FC236}">
                <a16:creationId xmlns:a16="http://schemas.microsoft.com/office/drawing/2014/main" id="{99FF780C-8FB9-A69C-042A-BBC7E55D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8" y="509533"/>
            <a:ext cx="365760" cy="365760"/>
          </a:xfrm>
          <a:prstGeom prst="rect">
            <a:avLst/>
          </a:prstGeom>
        </p:spPr>
      </p:pic>
      <p:sp>
        <p:nvSpPr>
          <p:cNvPr id="96" name="Team Name">
            <a:extLst>
              <a:ext uri="{FF2B5EF4-FFF2-40B4-BE49-F238E27FC236}">
                <a16:creationId xmlns:a16="http://schemas.microsoft.com/office/drawing/2014/main" id="{185404D2-B3D0-6300-D90E-F9647DF406D5}"/>
              </a:ext>
            </a:extLst>
          </p:cNvPr>
          <p:cNvSpPr txBox="1"/>
          <p:nvPr/>
        </p:nvSpPr>
        <p:spPr>
          <a:xfrm>
            <a:off x="1366407" y="376723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Ryvex</a:t>
            </a:r>
            <a:endParaRPr lang="en-US" sz="2400" dirty="0"/>
          </a:p>
        </p:txBody>
      </p:sp>
      <p:sp>
        <p:nvSpPr>
          <p:cNvPr id="98" name="Lead Icon Hex">
            <a:extLst>
              <a:ext uri="{FF2B5EF4-FFF2-40B4-BE49-F238E27FC236}">
                <a16:creationId xmlns:a16="http://schemas.microsoft.com/office/drawing/2014/main" id="{417074FC-9E58-27B3-68F9-F55A9420607C}"/>
              </a:ext>
            </a:extLst>
          </p:cNvPr>
          <p:cNvSpPr/>
          <p:nvPr/>
        </p:nvSpPr>
        <p:spPr>
          <a:xfrm>
            <a:off x="3468144" y="165129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100" name="Lead Icon" descr="Lightbulb icon">
            <a:extLst>
              <a:ext uri="{FF2B5EF4-FFF2-40B4-BE49-F238E27FC236}">
                <a16:creationId xmlns:a16="http://schemas.microsoft.com/office/drawing/2014/main" id="{7AEE0FF9-B3E3-4E68-1E98-B1D8F13D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308" y="223652"/>
            <a:ext cx="274320" cy="306142"/>
          </a:xfrm>
          <a:prstGeom prst="rect">
            <a:avLst/>
          </a:prstGeom>
        </p:spPr>
      </p:pic>
      <p:sp>
        <p:nvSpPr>
          <p:cNvPr id="365" name="Subhead 365"/>
          <p:cNvSpPr/>
          <p:nvPr/>
        </p:nvSpPr>
        <p:spPr>
          <a:xfrm>
            <a:off x="348756" y="1200000"/>
            <a:ext cx="114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Resources required to solve the problem</a:t>
            </a:r>
          </a:p>
        </p:txBody>
      </p:sp>
      <p:sp>
        <p:nvSpPr>
          <p:cNvPr id="367" name="Card 367"/>
          <p:cNvSpPr/>
          <p:nvPr/>
        </p:nvSpPr>
        <p:spPr>
          <a:xfrm>
            <a:off x="398756" y="2850000"/>
            <a:ext cx="3650000" cy="3008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68" name="Card Head 368"/>
          <p:cNvSpPr/>
          <p:nvPr/>
        </p:nvSpPr>
        <p:spPr>
          <a:xfrm>
            <a:off x="398756" y="2850000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Hardware</a:t>
            </a:r>
          </a:p>
        </p:txBody>
      </p:sp>
      <p:sp>
        <p:nvSpPr>
          <p:cNvPr id="369" name="Card Body 369"/>
          <p:cNvSpPr/>
          <p:nvPr/>
        </p:nvSpPr>
        <p:spPr>
          <a:xfrm>
            <a:off x="398756" y="3450000"/>
            <a:ext cx="3650000" cy="266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Temperature, humidity, flow and pressure sensors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Edge gateway at each site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Lab-scale heat exchanger rig (or simulated)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Workstation or cloud GPU for the twin</a:t>
            </a:r>
          </a:p>
        </p:txBody>
      </p:sp>
      <p:sp>
        <p:nvSpPr>
          <p:cNvPr id="370" name="Card 370"/>
          <p:cNvSpPr/>
          <p:nvPr/>
        </p:nvSpPr>
        <p:spPr>
          <a:xfrm>
            <a:off x="4248756" y="2850000"/>
            <a:ext cx="3650000" cy="3008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71" name="Card Head 371"/>
          <p:cNvSpPr/>
          <p:nvPr/>
        </p:nvSpPr>
        <p:spPr>
          <a:xfrm>
            <a:off x="4248756" y="2850000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Software</a:t>
            </a:r>
          </a:p>
        </p:txBody>
      </p:sp>
      <p:sp>
        <p:nvSpPr>
          <p:cNvPr id="372" name="Card Body 372"/>
          <p:cNvSpPr/>
          <p:nvPr/>
        </p:nvSpPr>
        <p:spPr>
          <a:xfrm>
            <a:off x="4248756" y="3450000"/>
            <a:ext cx="3650000" cy="266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Python, physics models and ML forecasting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Optimiser (MILP or MPC)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MQTT / OPC UA and a time-series database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Dashboard, mTLS and role-based access</a:t>
            </a:r>
          </a:p>
        </p:txBody>
      </p:sp>
      <p:sp>
        <p:nvSpPr>
          <p:cNvPr id="373" name="Card 373"/>
          <p:cNvSpPr/>
          <p:nvPr/>
        </p:nvSpPr>
        <p:spPr>
          <a:xfrm>
            <a:off x="8098756" y="2850000"/>
            <a:ext cx="3650000" cy="3008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endParaRPr lang="en-IN"/>
          </a:p>
        </p:txBody>
      </p:sp>
      <p:sp>
        <p:nvSpPr>
          <p:cNvPr id="374" name="Card Head 374"/>
          <p:cNvSpPr/>
          <p:nvPr/>
        </p:nvSpPr>
        <p:spPr>
          <a:xfrm>
            <a:off x="8098756" y="2850000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Other resources</a:t>
            </a:r>
          </a:p>
        </p:txBody>
      </p:sp>
      <p:sp>
        <p:nvSpPr>
          <p:cNvPr id="375" name="Card Body 375"/>
          <p:cNvSpPr/>
          <p:nvPr/>
        </p:nvSpPr>
        <p:spPr>
          <a:xfrm>
            <a:off x="8098756" y="3450000"/>
            <a:ext cx="3650000" cy="266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/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Mentor from a heat-intensive plant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Mentor from data-centre operations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Thermal and mechanical guidance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700" b="0" i="0" dirty="0">
                <a:solidFill>
                  <a:schemeClr val="tx2"/>
                </a:solidFill>
              </a:rPr>
              <a:t>Public weather and plant datasets</a:t>
            </a:r>
          </a:p>
        </p:txBody>
      </p:sp>
      <p:sp>
        <p:nvSpPr>
          <p:cNvPr id="4" name="Gap 363">
            <a:extLst>
              <a:ext uri="{FF2B5EF4-FFF2-40B4-BE49-F238E27FC236}">
                <a16:creationId xmlns:a16="http://schemas.microsoft.com/office/drawing/2014/main" id="{B816A41B-7CF2-82D6-5C1E-57D4D6C0D394}"/>
              </a:ext>
            </a:extLst>
          </p:cNvPr>
          <p:cNvSpPr/>
          <p:nvPr/>
        </p:nvSpPr>
        <p:spPr>
          <a:xfrm>
            <a:off x="398756" y="1830833"/>
            <a:ext cx="11329628" cy="672763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Insight: </a:t>
            </a:r>
            <a:r>
              <a:rPr lang="en-IN" sz="1600" dirty="0">
                <a:solidFill>
                  <a:schemeClr val="bg1"/>
                </a:solidFill>
              </a:rPr>
              <a:t>hot exhaust can drive absorption chillers and its vapour can refill cooling towers, but only if supply, demand and security are coordinated</a:t>
            </a:r>
            <a:r>
              <a:rPr lang="en-IN" sz="12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6A7801E2-49DC-BA2D-9570-953086A100CD}"/>
              </a:ext>
            </a:extLst>
          </p:cNvPr>
          <p:cNvSpPr>
            <a:spLocks noGrp="1"/>
          </p:cNvSpPr>
          <p:nvPr>
            <p:ph type="title" idx="108"/>
          </p:nvPr>
        </p:nvSpPr>
        <p:spPr/>
        <p:txBody>
          <a:bodyPr/>
          <a:lstStyle/>
          <a:p>
            <a:r>
              <a:rPr lang="en-US" dirty="0"/>
              <a:t>INITIAL DIRECTION &amp; EXPECTED OUTCOME</a:t>
            </a:r>
            <a:endParaRPr lang="en-IN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B58E2109-ECFD-5D84-04A7-D1F1C4AC689F}"/>
              </a:ext>
            </a:extLst>
          </p:cNvPr>
          <p:cNvSpPr>
            <a:spLocks noGrp="1"/>
          </p:cNvSpPr>
          <p:nvPr/>
        </p:nvSpPr>
        <p:spPr>
          <a:xfrm>
            <a:off x="11282629" y="6353440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lc="http://schemas.openxmlformats.org/drawingml/2006/lockedCanvas"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 marL="0" algn="l" defTabSz="914400" rtl="0" eaLnBrk="1" latinLnBrk="0" hangingPunct="1">
              <a:defRPr sz="1100" kern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b="1"/>
              <a:pPr algn="ctr"/>
              <a:t>8</a:t>
            </a:fld>
            <a:endParaRPr lang="en-US"/>
          </a:p>
        </p:txBody>
      </p:sp>
      <p:sp>
        <p:nvSpPr>
          <p:cNvPr id="37" name="Team Badge">
            <a:extLst>
              <a:ext uri="{FF2B5EF4-FFF2-40B4-BE49-F238E27FC236}">
                <a16:creationId xmlns:a16="http://schemas.microsoft.com/office/drawing/2014/main" id="{62FC56E0-A4B8-62BB-2872-47546D467503}"/>
              </a:ext>
            </a:extLst>
          </p:cNvPr>
          <p:cNvSpPr/>
          <p:nvPr/>
        </p:nvSpPr>
        <p:spPr>
          <a:xfrm>
            <a:off x="372378" y="224429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am Icon Hex">
            <a:extLst>
              <a:ext uri="{FF2B5EF4-FFF2-40B4-BE49-F238E27FC236}">
                <a16:creationId xmlns:a16="http://schemas.microsoft.com/office/drawing/2014/main" id="{734E8342-0F03-04D9-EC7A-21919EFB36A5}"/>
              </a:ext>
            </a:extLst>
          </p:cNvPr>
          <p:cNvSpPr/>
          <p:nvPr/>
        </p:nvSpPr>
        <p:spPr>
          <a:xfrm>
            <a:off x="518682" y="361589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Team Icon" descr="Team icon">
            <a:extLst>
              <a:ext uri="{FF2B5EF4-FFF2-40B4-BE49-F238E27FC236}">
                <a16:creationId xmlns:a16="http://schemas.microsoft.com/office/drawing/2014/main" id="{99FF780C-8FB9-A69C-042A-BBC7E55D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70" y="453029"/>
            <a:ext cx="365760" cy="365760"/>
          </a:xfrm>
          <a:prstGeom prst="rect">
            <a:avLst/>
          </a:prstGeom>
        </p:spPr>
      </p:pic>
      <p:sp>
        <p:nvSpPr>
          <p:cNvPr id="40" name="Team Name">
            <a:extLst>
              <a:ext uri="{FF2B5EF4-FFF2-40B4-BE49-F238E27FC236}">
                <a16:creationId xmlns:a16="http://schemas.microsoft.com/office/drawing/2014/main" id="{185404D2-B3D0-6300-D90E-F9647DF406D5}"/>
              </a:ext>
            </a:extLst>
          </p:cNvPr>
          <p:cNvSpPr txBox="1"/>
          <p:nvPr/>
        </p:nvSpPr>
        <p:spPr>
          <a:xfrm>
            <a:off x="1390029" y="320219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1"/>
                </a:solidFill>
              </a:rPr>
              <a:t>Ryvex</a:t>
            </a:r>
            <a:endParaRPr lang="en-US" sz="2400" dirty="0"/>
          </a:p>
        </p:txBody>
      </p:sp>
      <p:sp>
        <p:nvSpPr>
          <p:cNvPr id="41" name="Lead Icon Hex">
            <a:extLst>
              <a:ext uri="{FF2B5EF4-FFF2-40B4-BE49-F238E27FC236}">
                <a16:creationId xmlns:a16="http://schemas.microsoft.com/office/drawing/2014/main" id="{417074FC-9E58-27B3-68F9-F55A9420607C}"/>
              </a:ext>
            </a:extLst>
          </p:cNvPr>
          <p:cNvSpPr/>
          <p:nvPr/>
        </p:nvSpPr>
        <p:spPr>
          <a:xfrm>
            <a:off x="3257232" y="350866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2" name="Lead Icon" descr="Lightbulb icon">
            <a:extLst>
              <a:ext uri="{FF2B5EF4-FFF2-40B4-BE49-F238E27FC236}">
                <a16:creationId xmlns:a16="http://schemas.microsoft.com/office/drawing/2014/main" id="{7AEE0FF9-B3E3-4E68-1E98-B1D8F13D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672" y="431489"/>
            <a:ext cx="274320" cy="306142"/>
          </a:xfrm>
          <a:prstGeom prst="rect">
            <a:avLst/>
          </a:prstGeom>
        </p:spPr>
      </p:pic>
      <p:sp>
        <p:nvSpPr>
          <p:cNvPr id="43" name="Subhead 356">
            <a:extLst>
              <a:ext uri="{FF2B5EF4-FFF2-40B4-BE49-F238E27FC236}">
                <a16:creationId xmlns:a16="http://schemas.microsoft.com/office/drawing/2014/main" id="{E89C07E4-C6DA-C048-FF5A-7F38939E62DE}"/>
              </a:ext>
            </a:extLst>
          </p:cNvPr>
          <p:cNvSpPr/>
          <p:nvPr/>
        </p:nvSpPr>
        <p:spPr>
          <a:xfrm>
            <a:off x="372378" y="1143496"/>
            <a:ext cx="114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0"/>
              </a:spcAft>
              <a:buNone/>
            </a:pPr>
            <a:r>
              <a:rPr lang="en-I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 plan to do, and how it should work</a:t>
            </a:r>
          </a:p>
        </p:txBody>
      </p:sp>
      <p:sp>
        <p:nvSpPr>
          <p:cNvPr id="44" name="Card 357">
            <a:extLst>
              <a:ext uri="{FF2B5EF4-FFF2-40B4-BE49-F238E27FC236}">
                <a16:creationId xmlns:a16="http://schemas.microsoft.com/office/drawing/2014/main" id="{3DDDDC06-235C-E2F9-9B1C-1E653DA6D7BB}"/>
              </a:ext>
            </a:extLst>
          </p:cNvPr>
          <p:cNvSpPr/>
          <p:nvPr/>
        </p:nvSpPr>
        <p:spPr>
          <a:xfrm>
            <a:off x="372378" y="1623496"/>
            <a:ext cx="3650000" cy="188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5" name="Card Head 358">
            <a:extLst>
              <a:ext uri="{FF2B5EF4-FFF2-40B4-BE49-F238E27FC236}">
                <a16:creationId xmlns:a16="http://schemas.microsoft.com/office/drawing/2014/main" id="{D95F8DE7-E912-6FB6-D770-E29F7DBF1F29}"/>
              </a:ext>
            </a:extLst>
          </p:cNvPr>
          <p:cNvSpPr/>
          <p:nvPr/>
        </p:nvSpPr>
        <p:spPr>
          <a:xfrm>
            <a:off x="372378" y="1623496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What we plan to do</a:t>
            </a:r>
          </a:p>
        </p:txBody>
      </p:sp>
      <p:sp>
        <p:nvSpPr>
          <p:cNvPr id="46" name="Card Body 359">
            <a:extLst>
              <a:ext uri="{FF2B5EF4-FFF2-40B4-BE49-F238E27FC236}">
                <a16:creationId xmlns:a16="http://schemas.microsoft.com/office/drawing/2014/main" id="{251BA21E-12C1-405E-6C97-159D52F9C8C4}"/>
              </a:ext>
            </a:extLst>
          </p:cNvPr>
          <p:cNvSpPr/>
          <p:nvPr/>
        </p:nvSpPr>
        <p:spPr>
          <a:xfrm>
            <a:off x="372378" y="2223496"/>
            <a:ext cx="3650000" cy="124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Build a simulated twin of one plant and one data centre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Forecast heat, vapour and cooling load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Suggest an hourly plan within safe limits</a:t>
            </a:r>
          </a:p>
        </p:txBody>
      </p:sp>
      <p:sp>
        <p:nvSpPr>
          <p:cNvPr id="47" name="Card 360">
            <a:extLst>
              <a:ext uri="{FF2B5EF4-FFF2-40B4-BE49-F238E27FC236}">
                <a16:creationId xmlns:a16="http://schemas.microsoft.com/office/drawing/2014/main" id="{02A6A028-68B7-1299-338B-D3B1E8F1AEEF}"/>
              </a:ext>
            </a:extLst>
          </p:cNvPr>
          <p:cNvSpPr/>
          <p:nvPr/>
        </p:nvSpPr>
        <p:spPr>
          <a:xfrm>
            <a:off x="4222378" y="1623496"/>
            <a:ext cx="3650000" cy="188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8" name="Card Head 361">
            <a:extLst>
              <a:ext uri="{FF2B5EF4-FFF2-40B4-BE49-F238E27FC236}">
                <a16:creationId xmlns:a16="http://schemas.microsoft.com/office/drawing/2014/main" id="{94D10C70-94CA-71C1-E9FD-8883EE8FFCCD}"/>
              </a:ext>
            </a:extLst>
          </p:cNvPr>
          <p:cNvSpPr/>
          <p:nvPr/>
        </p:nvSpPr>
        <p:spPr>
          <a:xfrm>
            <a:off x="4222378" y="1623496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What we want to improve</a:t>
            </a:r>
          </a:p>
        </p:txBody>
      </p:sp>
      <p:sp>
        <p:nvSpPr>
          <p:cNvPr id="49" name="Card Body 362">
            <a:extLst>
              <a:ext uri="{FF2B5EF4-FFF2-40B4-BE49-F238E27FC236}">
                <a16:creationId xmlns:a16="http://schemas.microsoft.com/office/drawing/2014/main" id="{61D708E6-7C5A-76FE-77C0-060513F75532}"/>
              </a:ext>
            </a:extLst>
          </p:cNvPr>
          <p:cNvSpPr/>
          <p:nvPr/>
        </p:nvSpPr>
        <p:spPr>
          <a:xfrm>
            <a:off x="4222378" y="2223496"/>
            <a:ext cx="3650000" cy="124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Chiller electricity and fresh water use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How much vented heat and vapour actually gets used</a:t>
            </a:r>
          </a:p>
        </p:txBody>
      </p:sp>
      <p:sp>
        <p:nvSpPr>
          <p:cNvPr id="50" name="Card 363">
            <a:extLst>
              <a:ext uri="{FF2B5EF4-FFF2-40B4-BE49-F238E27FC236}">
                <a16:creationId xmlns:a16="http://schemas.microsoft.com/office/drawing/2014/main" id="{0864ED55-BAC0-FCF6-19D1-495E7DB4A375}"/>
              </a:ext>
            </a:extLst>
          </p:cNvPr>
          <p:cNvSpPr/>
          <p:nvPr/>
        </p:nvSpPr>
        <p:spPr>
          <a:xfrm>
            <a:off x="8072378" y="1623496"/>
            <a:ext cx="3650000" cy="188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91440" tIns="45720" rIns="91440" bIns="4572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1" name="Card Head 364">
            <a:extLst>
              <a:ext uri="{FF2B5EF4-FFF2-40B4-BE49-F238E27FC236}">
                <a16:creationId xmlns:a16="http://schemas.microsoft.com/office/drawing/2014/main" id="{5F604292-BCAB-F29E-1171-4DC3873911DF}"/>
              </a:ext>
            </a:extLst>
          </p:cNvPr>
          <p:cNvSpPr/>
          <p:nvPr/>
        </p:nvSpPr>
        <p:spPr>
          <a:xfrm>
            <a:off x="8072378" y="1623496"/>
            <a:ext cx="3650000" cy="5200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0"/>
              </a:spcAft>
              <a:buNone/>
            </a:pPr>
            <a:r>
              <a:rPr lang="en-IN" sz="1600" b="1" i="0" dirty="0">
                <a:solidFill>
                  <a:schemeClr val="bg1"/>
                </a:solidFill>
                <a:latin typeface="Cambria"/>
              </a:rPr>
              <a:t>Initial simulation targets</a:t>
            </a:r>
          </a:p>
        </p:txBody>
      </p:sp>
      <p:sp>
        <p:nvSpPr>
          <p:cNvPr id="52" name="Card Body 365">
            <a:extLst>
              <a:ext uri="{FF2B5EF4-FFF2-40B4-BE49-F238E27FC236}">
                <a16:creationId xmlns:a16="http://schemas.microsoft.com/office/drawing/2014/main" id="{8620E6E8-FA24-36E6-866B-DD8E610FBA27}"/>
              </a:ext>
            </a:extLst>
          </p:cNvPr>
          <p:cNvSpPr/>
          <p:nvPr/>
        </p:nvSpPr>
        <p:spPr>
          <a:xfrm>
            <a:off x="8072378" y="2223496"/>
            <a:ext cx="3650000" cy="124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Water top-up down 20-30%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Cooling electricity down 10-15%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Forecast error under 10%</a:t>
            </a:r>
          </a:p>
          <a:p>
            <a:pPr marL="228600" indent="-228600" algn="l">
              <a:spcAft>
                <a:spcPts val="500"/>
              </a:spcAft>
              <a:buClr>
                <a:schemeClr val="accent3"/>
              </a:buClr>
              <a:buFont typeface="Arial"/>
              <a:buChar char="•"/>
            </a:pPr>
            <a:r>
              <a:rPr lang="en-IN" sz="1400" b="0" i="0" dirty="0">
                <a:solidFill>
                  <a:schemeClr val="tx2"/>
                </a:solidFill>
              </a:rPr>
              <a:t>All against a chiller-only baseline</a:t>
            </a:r>
          </a:p>
        </p:txBody>
      </p:sp>
      <p:sp>
        <p:nvSpPr>
          <p:cNvPr id="53" name="Step 366">
            <a:extLst>
              <a:ext uri="{FF2B5EF4-FFF2-40B4-BE49-F238E27FC236}">
                <a16:creationId xmlns:a16="http://schemas.microsoft.com/office/drawing/2014/main" id="{4B26681A-C9D5-0742-0079-B9DEA8F24B31}"/>
              </a:ext>
            </a:extLst>
          </p:cNvPr>
          <p:cNvSpPr/>
          <p:nvPr/>
        </p:nvSpPr>
        <p:spPr>
          <a:xfrm>
            <a:off x="372378" y="3807389"/>
            <a:ext cx="2450000" cy="62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64000" tIns="32000" rIns="64000" bIns="3200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IN" sz="1300" b="0" i="0" dirty="0">
                <a:solidFill>
                  <a:schemeClr val="bg1"/>
                </a:solidFill>
              </a:rPr>
              <a:t>Hot exhaust or hot water from the plant</a:t>
            </a:r>
          </a:p>
        </p:txBody>
      </p:sp>
      <p:sp>
        <p:nvSpPr>
          <p:cNvPr id="54" name="Arrow 367">
            <a:extLst>
              <a:ext uri="{FF2B5EF4-FFF2-40B4-BE49-F238E27FC236}">
                <a16:creationId xmlns:a16="http://schemas.microsoft.com/office/drawing/2014/main" id="{6E504039-6583-33A5-3944-0F5224E01168}"/>
              </a:ext>
            </a:extLst>
          </p:cNvPr>
          <p:cNvSpPr/>
          <p:nvPr/>
        </p:nvSpPr>
        <p:spPr>
          <a:xfrm>
            <a:off x="2862378" y="3997389"/>
            <a:ext cx="250000" cy="2400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5" name="Step 368">
            <a:extLst>
              <a:ext uri="{FF2B5EF4-FFF2-40B4-BE49-F238E27FC236}">
                <a16:creationId xmlns:a16="http://schemas.microsoft.com/office/drawing/2014/main" id="{E6B32689-7E0B-30F5-CA10-10D818D1CEB5}"/>
              </a:ext>
            </a:extLst>
          </p:cNvPr>
          <p:cNvSpPr/>
          <p:nvPr/>
        </p:nvSpPr>
        <p:spPr>
          <a:xfrm>
            <a:off x="3172378" y="3807389"/>
            <a:ext cx="2450000" cy="62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64000" tIns="32000" rIns="64000" bIns="3200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IN" sz="1300" b="0" i="0" dirty="0">
                <a:solidFill>
                  <a:schemeClr val="bg1"/>
                </a:solidFill>
              </a:rPr>
              <a:t>Absorption chiller makes chilled water</a:t>
            </a:r>
          </a:p>
        </p:txBody>
      </p:sp>
      <p:sp>
        <p:nvSpPr>
          <p:cNvPr id="56" name="Arrow 369">
            <a:extLst>
              <a:ext uri="{FF2B5EF4-FFF2-40B4-BE49-F238E27FC236}">
                <a16:creationId xmlns:a16="http://schemas.microsoft.com/office/drawing/2014/main" id="{FF4971D3-6658-D4D1-58CA-3BA589E6D3C5}"/>
              </a:ext>
            </a:extLst>
          </p:cNvPr>
          <p:cNvSpPr/>
          <p:nvPr/>
        </p:nvSpPr>
        <p:spPr>
          <a:xfrm>
            <a:off x="5662378" y="3997389"/>
            <a:ext cx="250000" cy="2400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7" name="Step 370">
            <a:extLst>
              <a:ext uri="{FF2B5EF4-FFF2-40B4-BE49-F238E27FC236}">
                <a16:creationId xmlns:a16="http://schemas.microsoft.com/office/drawing/2014/main" id="{6D4488EB-09A2-3457-CF13-A3DE21C046A1}"/>
              </a:ext>
            </a:extLst>
          </p:cNvPr>
          <p:cNvSpPr/>
          <p:nvPr/>
        </p:nvSpPr>
        <p:spPr>
          <a:xfrm>
            <a:off x="5972378" y="3807389"/>
            <a:ext cx="2450000" cy="62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64000" tIns="32000" rIns="64000" bIns="3200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IN" sz="1300" b="0" i="0" dirty="0">
                <a:solidFill>
                  <a:schemeClr val="bg1"/>
                </a:solidFill>
              </a:rPr>
              <a:t>Chilled water goes to the data centre</a:t>
            </a:r>
          </a:p>
        </p:txBody>
      </p:sp>
      <p:sp>
        <p:nvSpPr>
          <p:cNvPr id="58" name="Step 371">
            <a:extLst>
              <a:ext uri="{FF2B5EF4-FFF2-40B4-BE49-F238E27FC236}">
                <a16:creationId xmlns:a16="http://schemas.microsoft.com/office/drawing/2014/main" id="{B1514379-E420-A301-11CF-B28CB1018E54}"/>
              </a:ext>
            </a:extLst>
          </p:cNvPr>
          <p:cNvSpPr/>
          <p:nvPr/>
        </p:nvSpPr>
        <p:spPr>
          <a:xfrm>
            <a:off x="372378" y="4527389"/>
            <a:ext cx="2450000" cy="6200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64000" tIns="32000" rIns="64000" bIns="3200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IN" sz="1300" b="0" i="0" dirty="0">
                <a:solidFill>
                  <a:schemeClr val="bg1"/>
                </a:solidFill>
              </a:rPr>
              <a:t>Water vapour in the exhaust</a:t>
            </a:r>
          </a:p>
        </p:txBody>
      </p:sp>
      <p:sp>
        <p:nvSpPr>
          <p:cNvPr id="59" name="Arrow 372">
            <a:extLst>
              <a:ext uri="{FF2B5EF4-FFF2-40B4-BE49-F238E27FC236}">
                <a16:creationId xmlns:a16="http://schemas.microsoft.com/office/drawing/2014/main" id="{9EF8B382-A4EF-4EAF-5CA0-78DCC9596CC1}"/>
              </a:ext>
            </a:extLst>
          </p:cNvPr>
          <p:cNvSpPr/>
          <p:nvPr/>
        </p:nvSpPr>
        <p:spPr>
          <a:xfrm>
            <a:off x="2862378" y="4717389"/>
            <a:ext cx="250000" cy="2400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60" name="Step 373">
            <a:extLst>
              <a:ext uri="{FF2B5EF4-FFF2-40B4-BE49-F238E27FC236}">
                <a16:creationId xmlns:a16="http://schemas.microsoft.com/office/drawing/2014/main" id="{18390446-0B92-444E-1640-70659A18D078}"/>
              </a:ext>
            </a:extLst>
          </p:cNvPr>
          <p:cNvSpPr/>
          <p:nvPr/>
        </p:nvSpPr>
        <p:spPr>
          <a:xfrm>
            <a:off x="3172378" y="4527389"/>
            <a:ext cx="2450000" cy="6200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64000" tIns="32000" rIns="64000" bIns="3200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IN" sz="1300" b="0" i="0" dirty="0">
                <a:solidFill>
                  <a:schemeClr val="bg1"/>
                </a:solidFill>
              </a:rPr>
              <a:t>Condense, treat, check quality</a:t>
            </a:r>
          </a:p>
        </p:txBody>
      </p:sp>
      <p:sp>
        <p:nvSpPr>
          <p:cNvPr id="61" name="Arrow 374">
            <a:extLst>
              <a:ext uri="{FF2B5EF4-FFF2-40B4-BE49-F238E27FC236}">
                <a16:creationId xmlns:a16="http://schemas.microsoft.com/office/drawing/2014/main" id="{82119B6E-8823-9988-55B1-76B5B96453EA}"/>
              </a:ext>
            </a:extLst>
          </p:cNvPr>
          <p:cNvSpPr/>
          <p:nvPr/>
        </p:nvSpPr>
        <p:spPr>
          <a:xfrm>
            <a:off x="5662378" y="4717389"/>
            <a:ext cx="250000" cy="2400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62" name="Step 375">
            <a:extLst>
              <a:ext uri="{FF2B5EF4-FFF2-40B4-BE49-F238E27FC236}">
                <a16:creationId xmlns:a16="http://schemas.microsoft.com/office/drawing/2014/main" id="{4427C286-AFE2-1FAE-B563-58EC9B83F7DD}"/>
              </a:ext>
            </a:extLst>
          </p:cNvPr>
          <p:cNvSpPr/>
          <p:nvPr/>
        </p:nvSpPr>
        <p:spPr>
          <a:xfrm>
            <a:off x="5972378" y="4527389"/>
            <a:ext cx="2450000" cy="6200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64000" tIns="32000" rIns="64000" bIns="3200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IN" sz="1300" b="0" i="0" dirty="0">
                <a:solidFill>
                  <a:schemeClr val="bg1"/>
                </a:solidFill>
              </a:rPr>
              <a:t>Tops up the cooling tower only if it passes</a:t>
            </a:r>
          </a:p>
        </p:txBody>
      </p:sp>
      <p:sp>
        <p:nvSpPr>
          <p:cNvPr id="63" name="Twin 376">
            <a:extLst>
              <a:ext uri="{FF2B5EF4-FFF2-40B4-BE49-F238E27FC236}">
                <a16:creationId xmlns:a16="http://schemas.microsoft.com/office/drawing/2014/main" id="{87F0F151-A3F2-6E36-1E42-BA2089B12836}"/>
              </a:ext>
            </a:extLst>
          </p:cNvPr>
          <p:cNvSpPr/>
          <p:nvPr/>
        </p:nvSpPr>
        <p:spPr>
          <a:xfrm>
            <a:off x="8823622" y="3820458"/>
            <a:ext cx="2950000" cy="1340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lIns="110000" tIns="55000" rIns="110000" bIns="5500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200"/>
              </a:spcAft>
              <a:buNone/>
            </a:pPr>
            <a:r>
              <a:rPr lang="en-IN" sz="1600" b="1" i="0" dirty="0">
                <a:solidFill>
                  <a:schemeClr val="accent1"/>
                </a:solidFill>
              </a:rPr>
              <a:t>Twin and forecast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IN" sz="1400" b="0" i="0" dirty="0">
                <a:solidFill>
                  <a:schemeClr val="tx2"/>
                </a:solidFill>
              </a:rPr>
              <a:t>Predicts heat, vapour and cooling load, then suggests a plan. It only advises; people or the plant’s own controls act.</a:t>
            </a:r>
          </a:p>
        </p:txBody>
      </p:sp>
      <p:sp>
        <p:nvSpPr>
          <p:cNvPr id="64" name="Banner 377">
            <a:extLst>
              <a:ext uri="{FF2B5EF4-FFF2-40B4-BE49-F238E27FC236}">
                <a16:creationId xmlns:a16="http://schemas.microsoft.com/office/drawing/2014/main" id="{D0CE7290-5B75-3DAC-AC88-DB4763B289B3}"/>
              </a:ext>
            </a:extLst>
          </p:cNvPr>
          <p:cNvSpPr/>
          <p:nvPr/>
        </p:nvSpPr>
        <p:spPr>
          <a:xfrm>
            <a:off x="419622" y="5523496"/>
            <a:ext cx="11400000" cy="5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0"/>
              </a:spcAft>
              <a:buNone/>
            </a:pPr>
            <a:r>
              <a:rPr lang="en-IN" sz="1400" b="1" i="0" dirty="0">
                <a:solidFill>
                  <a:schemeClr val="bg1"/>
                </a:solidFill>
              </a:rPr>
              <a:t>Safety rule: normal chillers and mains water stay on as backup, and the plan can never override equipment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1218</Words>
  <Application>Microsoft Office PowerPoint</Application>
  <PresentationFormat>Widescreen</PresentationFormat>
  <Paragraphs>149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Cambria</vt:lpstr>
      <vt:lpstr>Wingdings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Rhaghavi S.N</cp:lastModifiedBy>
  <cp:revision>8</cp:revision>
  <dcterms:created xsi:type="dcterms:W3CDTF">2026-10-07T15:27:40Z</dcterms:created>
  <dcterms:modified xsi:type="dcterms:W3CDTF">2026-10-09T18:09:07Z</dcterms:modified>
</cp:coreProperties>
</file>