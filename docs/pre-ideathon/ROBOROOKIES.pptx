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4610"/>
  </p:normalViewPr>
  <p:slideViewPr>
    <p:cSldViewPr snapToGrid="0" snapToObjects="1">
      <p:cViewPr varScale="1">
        <p:scale>
          <a:sx n="88" d="100"/>
          <a:sy n="88" d="100"/>
        </p:scale>
        <p:origin x="54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574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474720"/>
            <a:ext cx="9605554" cy="27889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ROBOROOKIES</a:t>
            </a:r>
            <a:endParaRPr lang="en-US" sz="1800" dirty="0"/>
          </a:p>
          <a:p>
            <a:pPr marL="279400" indent="-279400">
              <a:spcAft>
                <a:spcPts val="1400"/>
              </a:spcAft>
              <a:buClr>
                <a:schemeClr val="accent3"/>
              </a:buClr>
              <a:buSzPct val="100000"/>
              <a:buChar char="•"/>
            </a:pPr>
            <a:r>
              <a:rPr lang="en-US" sz="1800" dirty="0">
                <a:solidFill>
                  <a:schemeClr val="bg1"/>
                </a:solidFill>
              </a:rPr>
              <a:t>Team Members </a:t>
            </a:r>
            <a:endParaRPr lang="en-US" sz="1400" dirty="0">
              <a:solidFill>
                <a:schemeClr val="bg1"/>
              </a:solidFill>
            </a:endParaRPr>
          </a:p>
          <a:p>
            <a:pPr marL="279400" indent="-279400">
              <a:spcAft>
                <a:spcPts val="1400"/>
              </a:spcAft>
              <a:buClr>
                <a:schemeClr val="accent3"/>
              </a:buClr>
              <a:buSzPct val="100000"/>
              <a:buChar char="•"/>
            </a:pPr>
            <a:r>
              <a:rPr lang="en-US" sz="1400" dirty="0">
                <a:solidFill>
                  <a:schemeClr val="bg1"/>
                </a:solidFill>
              </a:rPr>
              <a:t>1. Trishul Sankar. G  - CB.EN.U4ARE26069</a:t>
            </a:r>
          </a:p>
          <a:p>
            <a:pPr marL="279400" indent="-279400">
              <a:spcAft>
                <a:spcPts val="1400"/>
              </a:spcAft>
              <a:buClr>
                <a:schemeClr val="accent3"/>
              </a:buClr>
              <a:buSzPct val="100000"/>
              <a:buChar char="•"/>
            </a:pPr>
            <a:r>
              <a:rPr lang="en-US" sz="1400" dirty="0">
                <a:solidFill>
                  <a:schemeClr val="bg1"/>
                </a:solidFill>
              </a:rPr>
              <a:t>2. </a:t>
            </a:r>
            <a:r>
              <a:rPr lang="en-US" sz="1400" dirty="0" err="1">
                <a:solidFill>
                  <a:schemeClr val="bg1"/>
                </a:solidFill>
              </a:rPr>
              <a:t>Jeyarjun</a:t>
            </a:r>
            <a:r>
              <a:rPr lang="en-US" sz="1400" dirty="0">
                <a:solidFill>
                  <a:schemeClr val="bg1"/>
                </a:solidFill>
              </a:rPr>
              <a:t>. R           - CB.EN.U4ARE26027</a:t>
            </a:r>
          </a:p>
          <a:p>
            <a:pPr marL="279400" indent="-279400">
              <a:spcAft>
                <a:spcPts val="1400"/>
              </a:spcAft>
              <a:buClr>
                <a:schemeClr val="accent3"/>
              </a:buClr>
              <a:buSzPct val="100000"/>
              <a:buChar char="•"/>
            </a:pPr>
            <a:r>
              <a:rPr lang="en-US" sz="1400" dirty="0">
                <a:solidFill>
                  <a:schemeClr val="bg1"/>
                </a:solidFill>
              </a:rPr>
              <a:t>3. </a:t>
            </a:r>
            <a:r>
              <a:rPr lang="en-US" sz="1400" dirty="0" err="1">
                <a:solidFill>
                  <a:schemeClr val="bg1"/>
                </a:solidFill>
              </a:rPr>
              <a:t>Subradheepan</a:t>
            </a:r>
            <a:r>
              <a:rPr lang="en-US" sz="1400" dirty="0">
                <a:solidFill>
                  <a:schemeClr val="bg1"/>
                </a:solidFill>
              </a:rPr>
              <a:t> K  - CB.EN.U4ARE26065</a:t>
            </a:r>
          </a:p>
          <a:p>
            <a:pPr marL="279400" indent="-279400">
              <a:spcAft>
                <a:spcPts val="1400"/>
              </a:spcAft>
              <a:buClr>
                <a:schemeClr val="accent3"/>
              </a:buClr>
              <a:buSzPct val="100000"/>
              <a:buChar char="•"/>
            </a:pPr>
            <a:r>
              <a:rPr lang="en-US" sz="1400" dirty="0">
                <a:solidFill>
                  <a:schemeClr val="bg1"/>
                </a:solidFill>
              </a:rPr>
              <a:t>4. Shashwat Harith  -  CB.EN.U4ARE26059</a:t>
            </a:r>
          </a:p>
          <a:p>
            <a:pPr marL="279400" indent="-279400">
              <a:spcAft>
                <a:spcPts val="1400"/>
              </a:spcAft>
              <a:buClr>
                <a:schemeClr val="accent3"/>
              </a:buClr>
              <a:buSzPct val="100000"/>
              <a:buChar char="•"/>
            </a:pPr>
            <a:r>
              <a:rPr lang="en-US" sz="1800" dirty="0">
                <a:solidFill>
                  <a:schemeClr val="bg1"/>
                </a:solidFill>
              </a:rPr>
              <a:t>Selected Domain – Intelligent Systems &amp; Digital Futures</a:t>
            </a:r>
            <a:endParaRPr lang="en-US" sz="1800" dirty="0"/>
          </a:p>
          <a:p>
            <a:pPr marL="279400" indent="-279400">
              <a:spcAft>
                <a:spcPts val="1400"/>
              </a:spcAft>
              <a:buClr>
                <a:schemeClr val="accent3"/>
              </a:buClr>
              <a:buSzPct val="100000"/>
              <a:buChar char="•"/>
            </a:pPr>
            <a:r>
              <a:rPr lang="en-US" sz="1800" dirty="0">
                <a:solidFill>
                  <a:schemeClr val="bg1"/>
                </a:solidFill>
              </a:rPr>
              <a:t>Problem Statement – Queue-Free Autonomous Printing for Crowded Institutions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417320" y="539931"/>
            <a:ext cx="1627632" cy="6949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5B6F6B"/>
                </a:solidFill>
                <a:effectLst/>
                <a:uLnTx/>
                <a:uFillTx/>
                <a:latin typeface="Calibri"/>
                <a:ea typeface="+mn-ea"/>
                <a:cs typeface="+mn-cs"/>
              </a:rPr>
              <a:t>TEAM</a:t>
            </a:r>
            <a:endParaRPr kumimoji="0" lang="en-US" sz="900" b="0" i="0" u="none" strike="noStrike" kern="1200" cap="none" spc="0" normalizeH="0" baseline="0" noProof="0" dirty="0">
              <a:ln>
                <a:noFill/>
              </a:ln>
              <a:solidFill>
                <a:srgbClr val="0E2A2F"/>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26855"/>
                </a:solidFill>
                <a:effectLst/>
                <a:uLnTx/>
                <a:uFillTx/>
                <a:latin typeface="Calibri"/>
                <a:ea typeface="+mn-ea"/>
                <a:cs typeface="+mn-cs"/>
              </a:rPr>
              <a:t>ROBOROOKIES</a:t>
            </a:r>
            <a:endParaRPr kumimoji="0" lang="en-US" sz="900" b="0" i="0" u="none" strike="noStrike" kern="1200" cap="none" spc="0" normalizeH="0" baseline="0" noProof="0" dirty="0">
              <a:ln>
                <a:noFill/>
              </a:ln>
              <a:solidFill>
                <a:srgbClr val="0E2A2F"/>
              </a:solidFill>
              <a:effectLst/>
              <a:uLnTx/>
              <a:uFillTx/>
              <a:latin typeface="Calibri"/>
              <a:ea typeface="+mn-ea"/>
              <a:cs typeface="+mn-cs"/>
            </a:endParaRPr>
          </a:p>
          <a:p>
            <a:pPr marL="0" indent="0">
              <a:buNone/>
            </a:pPr>
            <a:endParaRPr lang="en-US" sz="900" b="1" kern="0" spc="300" dirty="0">
              <a:solidFill>
                <a:schemeClr val="accent5"/>
              </a:solidFill>
            </a:endParaRPr>
          </a:p>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a:spcAft>
                <a:spcPts val="1000"/>
              </a:spcAft>
              <a:buClr>
                <a:schemeClr val="accent1"/>
              </a:buClr>
              <a:buSzPct val="100000"/>
            </a:pPr>
            <a:r>
              <a:rPr lang="en-US" dirty="0"/>
              <a:t>Ans: To eliminate a long queue and reduce manual printing delays by enabling users to upload, pay,</a:t>
            </a:r>
          </a:p>
          <a:p>
            <a:pPr>
              <a:spcAft>
                <a:spcPts val="1000"/>
              </a:spcAft>
              <a:buClr>
                <a:schemeClr val="accent1"/>
              </a:buClr>
              <a:buSzPct val="100000"/>
            </a:pPr>
            <a:r>
              <a:rPr lang="en-US" sz="1800" dirty="0"/>
              <a:t>         schedule, print, and securely collect documents autonomously, making the process more effective.</a:t>
            </a:r>
          </a:p>
          <a:p>
            <a:pPr marL="279400" indent="-279400">
              <a:spcAft>
                <a:spcPts val="1000"/>
              </a:spcAft>
              <a:buClr>
                <a:schemeClr val="accent1"/>
              </a:buClr>
              <a:buSzPct val="100000"/>
              <a:buChar char="•"/>
            </a:pPr>
            <a:r>
              <a:rPr lang="en-US" sz="1800" dirty="0">
                <a:solidFill>
                  <a:schemeClr val="tx1"/>
                </a:solidFill>
              </a:rPr>
              <a:t>Why is it important right now?</a:t>
            </a:r>
          </a:p>
          <a:p>
            <a:pPr>
              <a:spcAft>
                <a:spcPts val="1000"/>
              </a:spcAft>
              <a:buClr>
                <a:schemeClr val="accent1"/>
              </a:buClr>
              <a:buSzPct val="100000"/>
            </a:pPr>
            <a:r>
              <a:rPr lang="en-US" dirty="0"/>
              <a:t>Ans: Mass head count institutions still rely on counter based printing, waiting in queues, staff workload, </a:t>
            </a:r>
          </a:p>
          <a:p>
            <a:pPr>
              <a:spcAft>
                <a:spcPts val="1000"/>
              </a:spcAft>
              <a:buClr>
                <a:schemeClr val="accent1"/>
              </a:buClr>
              <a:buSzPct val="100000"/>
            </a:pPr>
            <a:r>
              <a:rPr lang="en-US" sz="1800" dirty="0"/>
              <a:t>         limited accessibility. An autonomous, app-based system can make printing faster, secure and available </a:t>
            </a:r>
          </a:p>
          <a:p>
            <a:pPr>
              <a:spcAft>
                <a:spcPts val="1000"/>
              </a:spcAft>
              <a:buClr>
                <a:schemeClr val="accent1"/>
              </a:buClr>
              <a:buSzPct val="100000"/>
            </a:pPr>
            <a:r>
              <a:rPr lang="en-US" dirty="0"/>
              <a:t>         beyond counter hours.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ROBOROOKIES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p>
          <a:p>
            <a:pPr marL="285750" indent="-285750">
              <a:spcAft>
                <a:spcPts val="1000"/>
              </a:spcAft>
              <a:buClr>
                <a:schemeClr val="accent1"/>
              </a:buClr>
              <a:buSzPct val="100000"/>
              <a:buFont typeface="Wingdings" panose="05000000000000000000" pitchFamily="2" charset="2"/>
              <a:buChar char="Ø"/>
            </a:pPr>
            <a:r>
              <a:rPr lang="en-US" dirty="0"/>
              <a:t>Student , employees, visitors at large institutions who need quick document printing.</a:t>
            </a:r>
            <a:endParaRPr lang="en-US" sz="1800" dirty="0"/>
          </a:p>
          <a:p>
            <a:pPr marL="279400" indent="-279400">
              <a:spcAft>
                <a:spcPts val="1000"/>
              </a:spcAft>
              <a:buClr>
                <a:schemeClr val="accent1"/>
              </a:buClr>
              <a:buSzPct val="100000"/>
              <a:buChar char="•"/>
            </a:pPr>
            <a:r>
              <a:rPr lang="en-US" sz="1800" dirty="0">
                <a:solidFill>
                  <a:schemeClr val="tx1"/>
                </a:solidFill>
              </a:rPr>
              <a:t>Secondary stakeholders</a:t>
            </a:r>
          </a:p>
          <a:p>
            <a:pPr marL="285750" indent="-285750">
              <a:spcAft>
                <a:spcPts val="1000"/>
              </a:spcAft>
              <a:buClr>
                <a:schemeClr val="accent1"/>
              </a:buClr>
              <a:buSzPct val="100000"/>
              <a:buFont typeface="Wingdings" panose="05000000000000000000" pitchFamily="2" charset="2"/>
              <a:buChar char="Ø"/>
            </a:pPr>
            <a:r>
              <a:rPr lang="en-US" dirty="0"/>
              <a:t>Printing center staffs, institution administration and Payment provider.</a:t>
            </a:r>
            <a:endParaRPr lang="en-US" sz="1800" dirty="0"/>
          </a:p>
          <a:p>
            <a:pPr marL="279400" indent="-279400">
              <a:spcAft>
                <a:spcPts val="1000"/>
              </a:spcAft>
              <a:buClr>
                <a:schemeClr val="accent1"/>
              </a:buClr>
              <a:buSzPct val="100000"/>
              <a:buChar char="•"/>
            </a:pPr>
            <a:r>
              <a:rPr lang="en-US" sz="1800" dirty="0">
                <a:solidFill>
                  <a:schemeClr val="tx1"/>
                </a:solidFill>
              </a:rPr>
              <a:t>Who benefits if the problem is solved?</a:t>
            </a:r>
          </a:p>
          <a:p>
            <a:pPr marL="285750" indent="-285750">
              <a:spcAft>
                <a:spcPts val="1000"/>
              </a:spcAft>
              <a:buClr>
                <a:schemeClr val="accent1"/>
              </a:buClr>
              <a:buSzPct val="100000"/>
              <a:buFont typeface="Wingdings" panose="05000000000000000000" pitchFamily="2" charset="2"/>
              <a:buChar char="Ø"/>
            </a:pPr>
            <a:r>
              <a:rPr lang="en-US" dirty="0"/>
              <a:t>Users benefits from: shorter queues, secure self –service printing, flexible pickup timing and </a:t>
            </a:r>
          </a:p>
          <a:p>
            <a:pPr>
              <a:spcAft>
                <a:spcPts val="1000"/>
              </a:spcAft>
              <a:buClr>
                <a:schemeClr val="accent1"/>
              </a:buClr>
              <a:buSzPct val="100000"/>
            </a:pPr>
            <a:r>
              <a:rPr lang="en-US" dirty="0"/>
              <a:t>      reduce waiting.</a:t>
            </a:r>
          </a:p>
          <a:p>
            <a:pPr marL="285750" indent="-285750">
              <a:spcAft>
                <a:spcPts val="1000"/>
              </a:spcAft>
              <a:buClr>
                <a:schemeClr val="accent1"/>
              </a:buClr>
              <a:buSzPct val="100000"/>
              <a:buFont typeface="Wingdings" panose="05000000000000000000" pitchFamily="2" charset="2"/>
              <a:buChar char="Ø"/>
            </a:pPr>
            <a:r>
              <a:rPr lang="en-US" dirty="0" err="1"/>
              <a:t>Instituion</a:t>
            </a:r>
            <a:r>
              <a:rPr lang="en-US" dirty="0"/>
              <a:t> benefits : lower staff workload, more efficient printing operation. </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284732"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ROBOROOKIES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5131526"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scenario and background</a:t>
            </a:r>
          </a:p>
          <a:p>
            <a:pPr marL="285750" indent="-285750">
              <a:spcAft>
                <a:spcPts val="1000"/>
              </a:spcAft>
              <a:buClr>
                <a:schemeClr val="accent1"/>
              </a:buClr>
              <a:buSzPct val="100000"/>
              <a:buFont typeface="Wingdings" panose="05000000000000000000" pitchFamily="2" charset="2"/>
              <a:buChar char="Ø"/>
            </a:pPr>
            <a:r>
              <a:rPr lang="en-US" dirty="0"/>
              <a:t>Now, we have to wait in a queue and upload the document to their mail. After this we have be patient until the staff takes the printout but we won’t receive the document immediately ,before that the payment has to be done either by cash/online.</a:t>
            </a:r>
          </a:p>
          <a:p>
            <a:pPr marL="279400" indent="-279400">
              <a:spcAft>
                <a:spcPts val="1000"/>
              </a:spcAft>
              <a:buClr>
                <a:schemeClr val="accent1"/>
              </a:buClr>
              <a:buSzPct val="100000"/>
              <a:buChar char="•"/>
            </a:pPr>
            <a:r>
              <a:rPr lang="en-US" dirty="0">
                <a:solidFill>
                  <a:schemeClr val="tx1"/>
                </a:solidFill>
              </a:rPr>
              <a:t>Relevant data or facts (if available)</a:t>
            </a:r>
          </a:p>
          <a:p>
            <a:pPr marL="285750" indent="-285750">
              <a:spcAft>
                <a:spcPts val="1000"/>
              </a:spcAft>
              <a:buClr>
                <a:schemeClr val="accent1"/>
              </a:buClr>
              <a:buSzPct val="100000"/>
              <a:buFont typeface="Wingdings" panose="05000000000000000000" pitchFamily="2" charset="2"/>
              <a:buChar char="Ø"/>
            </a:pPr>
            <a:r>
              <a:rPr lang="en-US" dirty="0" err="1"/>
              <a:t>PaperCut</a:t>
            </a:r>
            <a:r>
              <a:rPr lang="en-US" dirty="0"/>
              <a:t> – Used in University of Portsmouth</a:t>
            </a:r>
          </a:p>
          <a:p>
            <a:pPr marL="285750" indent="-285750">
              <a:spcAft>
                <a:spcPts val="1000"/>
              </a:spcAft>
              <a:buClr>
                <a:schemeClr val="accent1"/>
              </a:buClr>
              <a:buSzPct val="100000"/>
              <a:buFont typeface="Wingdings" panose="05000000000000000000" pitchFamily="2" charset="2"/>
              <a:buChar char="Ø"/>
            </a:pPr>
            <a:endParaRPr lang="en-US" sz="18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11" name="TextBox 10">
            <a:extLst>
              <a:ext uri="{FF2B5EF4-FFF2-40B4-BE49-F238E27FC236}">
                <a16:creationId xmlns:a16="http://schemas.microsoft.com/office/drawing/2014/main" id="{5226CF67-9546-73CB-935A-97E8F053DD5B}"/>
              </a:ext>
            </a:extLst>
          </p:cNvPr>
          <p:cNvSpPr txBox="1"/>
          <p:nvPr/>
        </p:nvSpPr>
        <p:spPr>
          <a:xfrm>
            <a:off x="6708558" y="2134874"/>
            <a:ext cx="5205849" cy="3236784"/>
          </a:xfrm>
          <a:prstGeom prst="rect">
            <a:avLst/>
          </a:prstGeom>
          <a:noFill/>
        </p:spPr>
        <p:txBody>
          <a:bodyPr wrap="none" rtlCol="0">
            <a:spAutoFit/>
          </a:bodyPr>
          <a:lstStyle/>
          <a:p>
            <a:pPr marL="279400" indent="-279400">
              <a:spcAft>
                <a:spcPts val="1000"/>
              </a:spcAft>
              <a:buClr>
                <a:schemeClr val="accent1"/>
              </a:buClr>
              <a:buSzPct val="100000"/>
              <a:buChar char="•"/>
            </a:pPr>
            <a:r>
              <a:rPr lang="en-US" sz="2000" dirty="0"/>
              <a:t>Current workflow, step by step</a:t>
            </a:r>
            <a:endParaRPr lang="en-US" dirty="0"/>
          </a:p>
          <a:p>
            <a:pPr marL="342900" indent="-342900">
              <a:spcAft>
                <a:spcPts val="1000"/>
              </a:spcAft>
              <a:buClr>
                <a:schemeClr val="accent1"/>
              </a:buClr>
              <a:buSzPct val="100000"/>
              <a:buFont typeface="+mj-lt"/>
              <a:buAutoNum type="arabicPeriod"/>
            </a:pPr>
            <a:r>
              <a:rPr lang="en-US" dirty="0"/>
              <a:t>User visiting the printing center</a:t>
            </a:r>
          </a:p>
          <a:p>
            <a:pPr marL="342900" indent="-342900">
              <a:spcAft>
                <a:spcPts val="1000"/>
              </a:spcAft>
              <a:buClr>
                <a:schemeClr val="accent1"/>
              </a:buClr>
              <a:buSzPct val="100000"/>
              <a:buFont typeface="+mj-lt"/>
              <a:buAutoNum type="arabicPeriod"/>
            </a:pPr>
            <a:r>
              <a:rPr lang="en-US" dirty="0"/>
              <a:t>User waiting in queue</a:t>
            </a:r>
          </a:p>
          <a:p>
            <a:pPr marL="342900" indent="-342900">
              <a:spcAft>
                <a:spcPts val="1000"/>
              </a:spcAft>
              <a:buClr>
                <a:schemeClr val="accent1"/>
              </a:buClr>
              <a:buSzPct val="100000"/>
              <a:buFont typeface="+mj-lt"/>
              <a:buAutoNum type="arabicPeriod"/>
            </a:pPr>
            <a:r>
              <a:rPr lang="en-US" dirty="0"/>
              <a:t>Sending document through mail or other medium</a:t>
            </a:r>
          </a:p>
          <a:p>
            <a:pPr marL="342900" indent="-342900">
              <a:spcAft>
                <a:spcPts val="1000"/>
              </a:spcAft>
              <a:buClr>
                <a:schemeClr val="accent1"/>
              </a:buClr>
              <a:buSzPct val="100000"/>
              <a:buFont typeface="+mj-lt"/>
              <a:buAutoNum type="arabicPeriod"/>
            </a:pPr>
            <a:r>
              <a:rPr lang="en-US" dirty="0"/>
              <a:t>Staff receiving the document and processing it</a:t>
            </a:r>
          </a:p>
          <a:p>
            <a:pPr marL="342900" indent="-342900">
              <a:spcAft>
                <a:spcPts val="1000"/>
              </a:spcAft>
              <a:buClr>
                <a:schemeClr val="accent1"/>
              </a:buClr>
              <a:buSzPct val="100000"/>
              <a:buFont typeface="+mj-lt"/>
              <a:buAutoNum type="arabicPeriod"/>
            </a:pPr>
            <a:r>
              <a:rPr lang="en-US" dirty="0"/>
              <a:t>User makes payment </a:t>
            </a:r>
            <a:r>
              <a:rPr lang="en-US" dirty="0" err="1"/>
              <a:t>throught</a:t>
            </a:r>
            <a:r>
              <a:rPr lang="en-US" dirty="0"/>
              <a:t> cash </a:t>
            </a:r>
          </a:p>
          <a:p>
            <a:pPr marL="342900" indent="-342900">
              <a:spcAft>
                <a:spcPts val="1000"/>
              </a:spcAft>
              <a:buClr>
                <a:schemeClr val="accent1"/>
              </a:buClr>
              <a:buSzPct val="100000"/>
              <a:buFont typeface="+mj-lt"/>
              <a:buAutoNum type="arabicPeriod"/>
            </a:pPr>
            <a:r>
              <a:rPr lang="en-US" dirty="0" err="1"/>
              <a:t>Recieves</a:t>
            </a:r>
            <a:r>
              <a:rPr lang="en-US" dirty="0"/>
              <a:t> the printout </a:t>
            </a:r>
            <a:r>
              <a:rPr lang="en-US" dirty="0" err="1"/>
              <a:t>fron</a:t>
            </a:r>
            <a:r>
              <a:rPr lang="en-US" dirty="0"/>
              <a:t> </a:t>
            </a:r>
            <a:r>
              <a:rPr lang="en-US" dirty="0" err="1"/>
              <a:t>thr</a:t>
            </a:r>
            <a:r>
              <a:rPr lang="en-US" dirty="0"/>
              <a:t> staff</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ROBOROOKIES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5161184"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Main difficulties and bottlenecks</a:t>
            </a:r>
            <a:endParaRPr lang="en-US" sz="1600" dirty="0">
              <a:solidFill>
                <a:schemeClr val="tx1"/>
              </a:solidFill>
            </a:endParaRPr>
          </a:p>
          <a:p>
            <a:pPr marL="342900" indent="-342900">
              <a:spcAft>
                <a:spcPts val="1000"/>
              </a:spcAft>
              <a:buClr>
                <a:schemeClr val="accent1"/>
              </a:buClr>
              <a:buSzPct val="100000"/>
              <a:buFont typeface="+mj-lt"/>
              <a:buAutoNum type="arabicPeriod"/>
            </a:pPr>
            <a:r>
              <a:rPr lang="en-US" dirty="0"/>
              <a:t>Long queue during busy hours.</a:t>
            </a:r>
          </a:p>
          <a:p>
            <a:pPr marL="342900" indent="-342900">
              <a:spcAft>
                <a:spcPts val="1000"/>
              </a:spcAft>
              <a:buClr>
                <a:schemeClr val="accent1"/>
              </a:buClr>
              <a:buSzPct val="100000"/>
              <a:buFont typeface="+mj-lt"/>
              <a:buAutoNum type="arabicPeriod"/>
            </a:pPr>
            <a:r>
              <a:rPr lang="en-US" dirty="0"/>
              <a:t>There may be </a:t>
            </a:r>
            <a:r>
              <a:rPr lang="en-US" dirty="0" err="1"/>
              <a:t>dealy</a:t>
            </a:r>
            <a:r>
              <a:rPr lang="en-US" dirty="0"/>
              <a:t> in printout due the staff </a:t>
            </a:r>
            <a:r>
              <a:rPr lang="en-IN" dirty="0"/>
              <a:t>negligence. Depending on staff for document processing.</a:t>
            </a:r>
          </a:p>
          <a:p>
            <a:pPr marL="342900" indent="-342900">
              <a:spcAft>
                <a:spcPts val="1000"/>
              </a:spcAft>
              <a:buClr>
                <a:schemeClr val="accent1"/>
              </a:buClr>
              <a:buSzPct val="100000"/>
              <a:buFont typeface="+mj-lt"/>
              <a:buAutoNum type="arabicPeriod"/>
            </a:pPr>
            <a:r>
              <a:rPr lang="en-IN" dirty="0"/>
              <a:t>Fixed working hours and break times.</a:t>
            </a:r>
            <a:endParaRPr lang="en-US" dirty="0"/>
          </a:p>
          <a:p>
            <a:pPr marL="279400" indent="-279400">
              <a:spcAft>
                <a:spcPts val="1000"/>
              </a:spcAft>
              <a:buClr>
                <a:schemeClr val="accent1"/>
              </a:buClr>
              <a:buSzPct val="100000"/>
              <a:buChar char="•"/>
            </a:pPr>
            <a:r>
              <a:rPr lang="en-US" sz="1800" dirty="0">
                <a:solidFill>
                  <a:schemeClr val="tx1"/>
                </a:solidFill>
              </a:rPr>
              <a:t>Root causes behind them</a:t>
            </a:r>
            <a:endParaRPr lang="en-US" sz="1600" dirty="0">
              <a:solidFill>
                <a:schemeClr val="tx1"/>
              </a:solidFill>
            </a:endParaRPr>
          </a:p>
          <a:p>
            <a:pPr marL="342900" indent="-342900">
              <a:spcAft>
                <a:spcPts val="1000"/>
              </a:spcAft>
              <a:buClr>
                <a:schemeClr val="accent1"/>
              </a:buClr>
              <a:buSzPct val="100000"/>
              <a:buFont typeface="+mj-lt"/>
              <a:buAutoNum type="arabicPeriod"/>
            </a:pPr>
            <a:r>
              <a:rPr lang="en-US" dirty="0"/>
              <a:t>Tradition counter-based printing systems.</a:t>
            </a:r>
          </a:p>
          <a:p>
            <a:pPr marL="342900" indent="-342900">
              <a:spcAft>
                <a:spcPts val="1000"/>
              </a:spcAft>
              <a:buClr>
                <a:schemeClr val="accent1"/>
              </a:buClr>
              <a:buSzPct val="100000"/>
              <a:buFont typeface="+mj-lt"/>
              <a:buAutoNum type="arabicPeriod"/>
            </a:pPr>
            <a:r>
              <a:rPr lang="en-US" dirty="0"/>
              <a:t>Manual handling of documents and printing request.</a:t>
            </a:r>
          </a:p>
          <a:p>
            <a:pPr marL="342900" indent="-342900">
              <a:spcAft>
                <a:spcPts val="1000"/>
              </a:spcAft>
              <a:buClr>
                <a:schemeClr val="accent1"/>
              </a:buClr>
              <a:buSzPct val="100000"/>
              <a:buFont typeface="+mj-lt"/>
              <a:buAutoNum type="arabicPeriod"/>
            </a:pPr>
            <a:r>
              <a:rPr lang="en-US" dirty="0"/>
              <a:t>Limited self-service printing facility </a:t>
            </a:r>
            <a:r>
              <a:rPr lang="en-US" sz="1600" dirty="0"/>
              <a:t>.</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1" name="TextBox 10">
            <a:extLst>
              <a:ext uri="{FF2B5EF4-FFF2-40B4-BE49-F238E27FC236}">
                <a16:creationId xmlns:a16="http://schemas.microsoft.com/office/drawing/2014/main" id="{820EECD7-981D-BB71-63B7-C875B944AEBE}"/>
              </a:ext>
            </a:extLst>
          </p:cNvPr>
          <p:cNvSpPr txBox="1"/>
          <p:nvPr/>
        </p:nvSpPr>
        <p:spPr>
          <a:xfrm>
            <a:off x="6378761" y="2194560"/>
            <a:ext cx="4944559" cy="2021066"/>
          </a:xfrm>
          <a:prstGeom prst="rect">
            <a:avLst/>
          </a:prstGeom>
          <a:noFill/>
        </p:spPr>
        <p:txBody>
          <a:bodyPr wrap="none" rtlCol="0">
            <a:spAutoFit/>
          </a:bodyPr>
          <a:lstStyle/>
          <a:p>
            <a:pPr marL="279400" indent="-279400">
              <a:spcAft>
                <a:spcPts val="1000"/>
              </a:spcAft>
              <a:buClr>
                <a:schemeClr val="accent1"/>
              </a:buClr>
              <a:buSzPct val="100000"/>
              <a:buChar char="•"/>
            </a:pPr>
            <a:r>
              <a:rPr lang="en-US" sz="2000" dirty="0"/>
              <a:t>Consequences of leaving them unsolved</a:t>
            </a:r>
            <a:endParaRPr lang="en-US" dirty="0"/>
          </a:p>
          <a:p>
            <a:pPr marL="342900" indent="-342900">
              <a:spcAft>
                <a:spcPts val="1000"/>
              </a:spcAft>
              <a:buClr>
                <a:schemeClr val="accent1"/>
              </a:buClr>
              <a:buSzPct val="100000"/>
              <a:buFont typeface="+mj-lt"/>
              <a:buAutoNum type="arabicPeriod"/>
            </a:pPr>
            <a:r>
              <a:rPr lang="en-US" dirty="0"/>
              <a:t>Waste of time and increasing in waiting period.</a:t>
            </a:r>
          </a:p>
          <a:p>
            <a:pPr marL="342900" indent="-342900">
              <a:spcAft>
                <a:spcPts val="1000"/>
              </a:spcAft>
              <a:buClr>
                <a:schemeClr val="accent1"/>
              </a:buClr>
              <a:buSzPct val="100000"/>
              <a:buFont typeface="+mj-lt"/>
              <a:buAutoNum type="arabicPeriod"/>
            </a:pPr>
            <a:r>
              <a:rPr lang="en-IN" dirty="0"/>
              <a:t>Inconvenience students, visitors, employees.</a:t>
            </a:r>
            <a:endParaRPr lang="en-IN" dirty="0">
              <a:solidFill>
                <a:schemeClr val="bg2">
                  <a:lumMod val="10000"/>
                </a:schemeClr>
              </a:solidFill>
            </a:endParaRPr>
          </a:p>
          <a:p>
            <a:pPr marL="342900" indent="-342900">
              <a:spcAft>
                <a:spcPts val="1000"/>
              </a:spcAft>
              <a:buClr>
                <a:schemeClr val="accent1"/>
              </a:buClr>
              <a:buSzPct val="100000"/>
              <a:buFont typeface="+mj-lt"/>
              <a:buAutoNum type="arabicPeriod"/>
            </a:pPr>
            <a:r>
              <a:rPr lang="en-IN" dirty="0">
                <a:solidFill>
                  <a:schemeClr val="bg2">
                    <a:lumMod val="10000"/>
                  </a:schemeClr>
                </a:solidFill>
              </a:rPr>
              <a:t>Increased </a:t>
            </a:r>
            <a:r>
              <a:rPr lang="en-IN" dirty="0" err="1">
                <a:solidFill>
                  <a:schemeClr val="bg2">
                    <a:lumMod val="10000"/>
                  </a:schemeClr>
                </a:solidFill>
              </a:rPr>
              <a:t>workeload</a:t>
            </a:r>
            <a:r>
              <a:rPr lang="en-IN" dirty="0">
                <a:solidFill>
                  <a:schemeClr val="bg2">
                    <a:lumMod val="10000"/>
                  </a:schemeClr>
                </a:solidFill>
              </a:rPr>
              <a:t> for printing staffs.</a:t>
            </a:r>
            <a:endParaRPr lang="en-US" dirty="0">
              <a:solidFill>
                <a:schemeClr val="bg2">
                  <a:lumMod val="10000"/>
                </a:schemeClr>
              </a:solidFill>
            </a:endParaRPr>
          </a:p>
          <a:p>
            <a:endParaRPr lang="en-IN" dirty="0">
              <a:solidFill>
                <a:schemeClr val="bg2">
                  <a:lumMod val="1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ROBOROOKIES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522732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p>
          <a:p>
            <a:pPr marL="342900" indent="-342900">
              <a:spcAft>
                <a:spcPts val="1000"/>
              </a:spcAft>
              <a:buClr>
                <a:schemeClr val="accent1"/>
              </a:buClr>
              <a:buSzPct val="100000"/>
              <a:buFont typeface="+mj-lt"/>
              <a:buAutoNum type="arabicPeriod"/>
            </a:pPr>
            <a:r>
              <a:rPr lang="en-US" dirty="0"/>
              <a:t>Counter based printing, mail or messaging printing.</a:t>
            </a:r>
          </a:p>
          <a:p>
            <a:pPr marL="342900" indent="-342900">
              <a:spcAft>
                <a:spcPts val="1000"/>
              </a:spcAft>
              <a:buClr>
                <a:schemeClr val="accent1"/>
              </a:buClr>
              <a:buSzPct val="100000"/>
              <a:buFont typeface="+mj-lt"/>
              <a:buAutoNum type="arabicPeriod"/>
            </a:pPr>
            <a:r>
              <a:rPr lang="en-US" dirty="0"/>
              <a:t>Payment systems: Cash, online payment</a:t>
            </a:r>
            <a:r>
              <a:rPr lang="en-US" sz="1600" dirty="0"/>
              <a:t>.</a:t>
            </a:r>
          </a:p>
          <a:p>
            <a:pPr marL="279400" indent="-279400">
              <a:spcAft>
                <a:spcPts val="1000"/>
              </a:spcAft>
              <a:buClr>
                <a:schemeClr val="accent1"/>
              </a:buClr>
              <a:buSzPct val="100000"/>
              <a:buChar char="•"/>
            </a:pPr>
            <a:r>
              <a:rPr lang="en-US" sz="1800" dirty="0">
                <a:solidFill>
                  <a:schemeClr val="tx1"/>
                </a:solidFill>
              </a:rPr>
              <a:t>Limitations of each</a:t>
            </a:r>
            <a:endParaRPr lang="en-US" sz="1600" dirty="0">
              <a:solidFill>
                <a:schemeClr val="tx1"/>
              </a:solidFill>
            </a:endParaRPr>
          </a:p>
          <a:p>
            <a:pPr marL="342900" indent="-342900">
              <a:spcAft>
                <a:spcPts val="1000"/>
              </a:spcAft>
              <a:buClr>
                <a:schemeClr val="accent1"/>
              </a:buClr>
              <a:buSzPct val="100000"/>
              <a:buFont typeface="+mj-lt"/>
              <a:buAutoNum type="arabicPeriod"/>
            </a:pPr>
            <a:r>
              <a:rPr lang="en-US" dirty="0"/>
              <a:t>Counter based printing: have to wait in long queue </a:t>
            </a:r>
          </a:p>
          <a:p>
            <a:pPr marL="342900" indent="-342900">
              <a:spcAft>
                <a:spcPts val="1000"/>
              </a:spcAft>
              <a:buClr>
                <a:schemeClr val="accent1"/>
              </a:buClr>
              <a:buSzPct val="100000"/>
              <a:buFont typeface="+mj-lt"/>
              <a:buAutoNum type="arabicPeriod"/>
            </a:pPr>
            <a:r>
              <a:rPr lang="en-US" dirty="0"/>
              <a:t>Mail or messaging printing: manual processing and delay during busy hours.</a:t>
            </a:r>
          </a:p>
          <a:p>
            <a:pPr marL="342900" indent="-342900">
              <a:spcAft>
                <a:spcPts val="1000"/>
              </a:spcAft>
              <a:buClr>
                <a:schemeClr val="accent1"/>
              </a:buClr>
              <a:buSzPct val="100000"/>
              <a:buFont typeface="+mj-lt"/>
              <a:buAutoNum type="arabicPeriod"/>
            </a:pPr>
            <a:r>
              <a:rPr lang="en-US" dirty="0"/>
              <a:t>Payment: payment alone does not automate document processing</a:t>
            </a:r>
            <a:r>
              <a:rPr lang="en-US" sz="1600" dirty="0"/>
              <a: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
        <p:nvSpPr>
          <p:cNvPr id="11" name="TextBox 10">
            <a:extLst>
              <a:ext uri="{FF2B5EF4-FFF2-40B4-BE49-F238E27FC236}">
                <a16:creationId xmlns:a16="http://schemas.microsoft.com/office/drawing/2014/main" id="{C3170AFE-53FB-84E6-676E-AEB341822F7C}"/>
              </a:ext>
            </a:extLst>
          </p:cNvPr>
          <p:cNvSpPr txBox="1"/>
          <p:nvPr/>
        </p:nvSpPr>
        <p:spPr>
          <a:xfrm>
            <a:off x="6307418" y="2059535"/>
            <a:ext cx="5632034" cy="2852063"/>
          </a:xfrm>
          <a:prstGeom prst="rect">
            <a:avLst/>
          </a:prstGeom>
          <a:noFill/>
        </p:spPr>
        <p:txBody>
          <a:bodyPr wrap="square" rtlCol="0">
            <a:spAutoFit/>
          </a:bodyPr>
          <a:lstStyle/>
          <a:p>
            <a:pPr marL="279400" indent="-279400">
              <a:spcAft>
                <a:spcPts val="1000"/>
              </a:spcAft>
              <a:buClr>
                <a:schemeClr val="accent1"/>
              </a:buClr>
              <a:buSzPct val="100000"/>
              <a:buChar char="•"/>
            </a:pPr>
            <a:r>
              <a:rPr lang="en-US" sz="2000" dirty="0"/>
              <a:t>The gap they leave open (Key Challenges)</a:t>
            </a:r>
          </a:p>
          <a:p>
            <a:pPr marL="342900" indent="-342900">
              <a:spcAft>
                <a:spcPts val="1000"/>
              </a:spcAft>
              <a:buClr>
                <a:schemeClr val="accent1"/>
              </a:buClr>
              <a:buSzPct val="100000"/>
              <a:buFont typeface="+mj-lt"/>
              <a:buAutoNum type="arabicPeriod"/>
            </a:pPr>
            <a:r>
              <a:rPr lang="en-US" dirty="0"/>
              <a:t>Lack of single platform integrating document uploading, scheduling, printing.</a:t>
            </a:r>
          </a:p>
          <a:p>
            <a:pPr marL="342900" indent="-342900">
              <a:spcAft>
                <a:spcPts val="1000"/>
              </a:spcAft>
              <a:buClr>
                <a:schemeClr val="accent1"/>
              </a:buClr>
              <a:buSzPct val="100000"/>
              <a:buFont typeface="+mj-lt"/>
              <a:buAutoNum type="arabicPeriod"/>
            </a:pPr>
            <a:r>
              <a:rPr lang="en-IN" dirty="0"/>
              <a:t>Limited flexibility to schedule printing and collect documents conveniently.</a:t>
            </a:r>
          </a:p>
          <a:p>
            <a:pPr marL="342900" indent="-342900">
              <a:spcAft>
                <a:spcPts val="1000"/>
              </a:spcAft>
              <a:buClr>
                <a:schemeClr val="accent1"/>
              </a:buClr>
              <a:buSzPct val="100000"/>
              <a:buFont typeface="+mj-lt"/>
              <a:buAutoNum type="arabicPeriod"/>
            </a:pPr>
            <a:r>
              <a:rPr lang="en-IN" dirty="0"/>
              <a:t>Continued dependence on staff for routine printing tasks.</a:t>
            </a:r>
            <a:endParaRPr lang="en-US"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ROBOROOKIES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518426"/>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1920240"/>
            <a:ext cx="5070566" cy="18745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a:t>
            </a:r>
            <a:endParaRPr lang="en-US" dirty="0"/>
          </a:p>
          <a:p>
            <a:pPr marL="285750" indent="-285750">
              <a:spcAft>
                <a:spcPts val="1000"/>
              </a:spcAft>
              <a:buClr>
                <a:schemeClr val="accent1"/>
              </a:buClr>
              <a:buSzPct val="100000"/>
              <a:buFont typeface="Wingdings" panose="05000000000000000000" pitchFamily="2" charset="2"/>
              <a:buChar char="Ø"/>
            </a:pPr>
            <a:r>
              <a:rPr lang="en-US" dirty="0"/>
              <a:t>High-volume printer</a:t>
            </a:r>
          </a:p>
          <a:p>
            <a:pPr marL="285750" indent="-285750">
              <a:spcAft>
                <a:spcPts val="1000"/>
              </a:spcAft>
              <a:buClr>
                <a:schemeClr val="accent1"/>
              </a:buClr>
              <a:buSzPct val="100000"/>
              <a:buFont typeface="Wingdings" panose="05000000000000000000" pitchFamily="2" charset="2"/>
              <a:buChar char="Ø"/>
            </a:pPr>
            <a:r>
              <a:rPr lang="en-US" dirty="0"/>
              <a:t>Slot box</a:t>
            </a:r>
          </a:p>
          <a:p>
            <a:pPr marL="285750" indent="-285750">
              <a:spcAft>
                <a:spcPts val="1000"/>
              </a:spcAft>
              <a:buClr>
                <a:schemeClr val="accent1"/>
              </a:buClr>
              <a:buSzPct val="100000"/>
              <a:buFont typeface="Wingdings" panose="05000000000000000000" pitchFamily="2" charset="2"/>
              <a:buChar char="Ø"/>
            </a:pPr>
            <a:r>
              <a:rPr lang="en-US" dirty="0"/>
              <a:t>Embedded controller</a:t>
            </a:r>
          </a:p>
          <a:p>
            <a:pPr marL="285750" indent="-285750">
              <a:spcAft>
                <a:spcPts val="1000"/>
              </a:spcAft>
              <a:buClr>
                <a:schemeClr val="accent1"/>
              </a:buClr>
              <a:buSzPct val="100000"/>
              <a:buFont typeface="Wingdings" panose="05000000000000000000" pitchFamily="2" charset="2"/>
              <a:buChar char="Ø"/>
            </a:pPr>
            <a:r>
              <a:rPr lang="en-US" dirty="0"/>
              <a:t>Mechanical module</a:t>
            </a:r>
          </a:p>
          <a:p>
            <a:pPr marL="279400" indent="-279400">
              <a:spcAft>
                <a:spcPts val="1000"/>
              </a:spcAft>
              <a:buClr>
                <a:schemeClr val="accent1"/>
              </a:buClr>
              <a:buSzPct val="100000"/>
              <a:buChar char="•"/>
            </a:pPr>
            <a:r>
              <a:rPr lang="en-US" sz="2000" dirty="0">
                <a:solidFill>
                  <a:schemeClr val="tx1"/>
                </a:solidFill>
              </a:rPr>
              <a:t>Software Requirements</a:t>
            </a:r>
          </a:p>
          <a:p>
            <a:pPr marL="285750" indent="-285750">
              <a:spcAft>
                <a:spcPts val="1000"/>
              </a:spcAft>
              <a:buClr>
                <a:schemeClr val="accent1"/>
              </a:buClr>
              <a:buSzPct val="100000"/>
              <a:buFont typeface="Wingdings" panose="05000000000000000000" pitchFamily="2" charset="2"/>
              <a:buChar char="Ø"/>
            </a:pPr>
            <a:r>
              <a:rPr lang="en-US" dirty="0"/>
              <a:t>Web application</a:t>
            </a:r>
          </a:p>
          <a:p>
            <a:pPr marL="285750" indent="-285750">
              <a:spcAft>
                <a:spcPts val="1000"/>
              </a:spcAft>
              <a:buClr>
                <a:schemeClr val="accent1"/>
              </a:buClr>
              <a:buSzPct val="100000"/>
              <a:buFont typeface="Wingdings" panose="05000000000000000000" pitchFamily="2" charset="2"/>
              <a:buChar char="Ø"/>
            </a:pPr>
            <a:r>
              <a:rPr lang="en-US" dirty="0"/>
              <a:t>Backend &amp; Database</a:t>
            </a:r>
          </a:p>
          <a:p>
            <a:pPr marL="285750" indent="-285750">
              <a:spcAft>
                <a:spcPts val="1000"/>
              </a:spcAft>
              <a:buClr>
                <a:schemeClr val="accent1"/>
              </a:buClr>
              <a:buSzPct val="100000"/>
              <a:buFont typeface="Wingdings" panose="05000000000000000000" pitchFamily="2" charset="2"/>
              <a:buChar char="Ø"/>
            </a:pPr>
            <a:r>
              <a:rPr lang="en-US" dirty="0"/>
              <a:t>Secure file transfer &amp; printer integration</a:t>
            </a:r>
          </a:p>
          <a:p>
            <a:pPr marL="285750" indent="-285750">
              <a:spcAft>
                <a:spcPts val="1000"/>
              </a:spcAft>
              <a:buClr>
                <a:schemeClr val="accent1"/>
              </a:buClr>
              <a:buSzPct val="100000"/>
              <a:buFont typeface="Wingdings" panose="05000000000000000000" pitchFamily="2" charset="2"/>
              <a:buChar char="Ø"/>
            </a:pPr>
            <a:r>
              <a:rPr lang="en-US" dirty="0"/>
              <a:t>Online payment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11" name="TextBox 10">
            <a:extLst>
              <a:ext uri="{FF2B5EF4-FFF2-40B4-BE49-F238E27FC236}">
                <a16:creationId xmlns:a16="http://schemas.microsoft.com/office/drawing/2014/main" id="{73A9F24F-9441-305F-971B-BF8C6453C900}"/>
              </a:ext>
            </a:extLst>
          </p:cNvPr>
          <p:cNvSpPr txBox="1"/>
          <p:nvPr/>
        </p:nvSpPr>
        <p:spPr>
          <a:xfrm>
            <a:off x="6589594" y="1895986"/>
            <a:ext cx="6002999" cy="1754326"/>
          </a:xfrm>
          <a:prstGeom prst="rect">
            <a:avLst/>
          </a:prstGeom>
          <a:noFill/>
        </p:spPr>
        <p:txBody>
          <a:bodyPr wrap="square" rtlCol="0">
            <a:spAutoFit/>
          </a:bodyPr>
          <a:lstStyle/>
          <a:p>
            <a:pPr marL="279400" indent="-279400">
              <a:buClr>
                <a:schemeClr val="accent1"/>
              </a:buClr>
              <a:buSzPct val="100000"/>
              <a:buChar char="•"/>
            </a:pPr>
            <a:r>
              <a:rPr lang="en-US" dirty="0"/>
              <a:t>Other resources (Including Human Resources)</a:t>
            </a:r>
          </a:p>
          <a:p>
            <a:pPr marL="285750" indent="-285750">
              <a:buClr>
                <a:schemeClr val="accent1"/>
              </a:buClr>
              <a:buSzPct val="100000"/>
              <a:buFont typeface="Wingdings" panose="05000000000000000000" pitchFamily="2" charset="2"/>
              <a:buChar char="Ø"/>
            </a:pPr>
            <a:r>
              <a:rPr lang="en-US" dirty="0"/>
              <a:t>System operators</a:t>
            </a:r>
          </a:p>
          <a:p>
            <a:pPr marL="285750" indent="-285750">
              <a:buClr>
                <a:schemeClr val="accent1"/>
              </a:buClr>
              <a:buSzPct val="100000"/>
              <a:buFont typeface="Wingdings" panose="05000000000000000000" pitchFamily="2" charset="2"/>
              <a:buChar char="Ø"/>
            </a:pPr>
            <a:r>
              <a:rPr lang="en-US" dirty="0"/>
              <a:t>Technical maintenance Technician</a:t>
            </a:r>
          </a:p>
          <a:p>
            <a:pPr marL="285750" indent="-285750">
              <a:buClr>
                <a:schemeClr val="accent1"/>
              </a:buClr>
              <a:buSzPct val="100000"/>
              <a:buFont typeface="Wingdings" panose="05000000000000000000" pitchFamily="2" charset="2"/>
              <a:buChar char="Ø"/>
            </a:pPr>
            <a:r>
              <a:rPr lang="en-US" dirty="0"/>
              <a:t>Software support team</a:t>
            </a:r>
          </a:p>
          <a:p>
            <a:pPr marL="285750" indent="-285750">
              <a:buClr>
                <a:schemeClr val="accent1"/>
              </a:buClr>
              <a:buSzPct val="100000"/>
              <a:buFont typeface="Wingdings" panose="05000000000000000000" pitchFamily="2" charset="2"/>
              <a:buChar char="Ø"/>
            </a:pPr>
            <a:r>
              <a:rPr lang="en-US" dirty="0"/>
              <a:t>Robotics Engineers</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ROBOROOKIES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5053149"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a:t>
            </a:r>
            <a:endParaRPr lang="en-US" sz="1600" dirty="0">
              <a:solidFill>
                <a:schemeClr val="tx1"/>
              </a:solidFill>
            </a:endParaRPr>
          </a:p>
          <a:p>
            <a:pPr marL="285750" indent="-285750">
              <a:spcAft>
                <a:spcPts val="1000"/>
              </a:spcAft>
              <a:buClr>
                <a:schemeClr val="accent1"/>
              </a:buClr>
              <a:buSzPct val="100000"/>
              <a:buFont typeface="Wingdings" panose="05000000000000000000" pitchFamily="2" charset="2"/>
              <a:buChar char="Ø"/>
            </a:pPr>
            <a:r>
              <a:rPr lang="en-IN" dirty="0"/>
              <a:t>Develop a user-friendly mobile or web application</a:t>
            </a:r>
          </a:p>
          <a:p>
            <a:pPr marL="285750" indent="-285750">
              <a:spcAft>
                <a:spcPts val="1000"/>
              </a:spcAft>
              <a:buClr>
                <a:schemeClr val="accent1"/>
              </a:buClr>
              <a:buSzPct val="100000"/>
              <a:buFont typeface="Wingdings" panose="05000000000000000000" pitchFamily="2" charset="2"/>
              <a:buChar char="Ø"/>
            </a:pPr>
            <a:r>
              <a:rPr lang="en-IN" dirty="0"/>
              <a:t>Integrate document uploads, digital payments, and print scheduling.</a:t>
            </a:r>
          </a:p>
          <a:p>
            <a:pPr marL="285750" indent="-285750">
              <a:spcAft>
                <a:spcPts val="1000"/>
              </a:spcAft>
              <a:buClr>
                <a:schemeClr val="accent1"/>
              </a:buClr>
              <a:buSzPct val="100000"/>
              <a:buFont typeface="Wingdings" panose="05000000000000000000" pitchFamily="2" charset="2"/>
              <a:buChar char="Ø"/>
            </a:pPr>
            <a:r>
              <a:rPr lang="en-IN" dirty="0"/>
              <a:t>Connect the platform to an automated printing unit</a:t>
            </a:r>
            <a:r>
              <a:rPr lang="en-IN" sz="1600" dirty="0"/>
              <a:t>.</a:t>
            </a:r>
            <a:endParaRPr lang="en-US" sz="1600" dirty="0"/>
          </a:p>
          <a:p>
            <a:pPr marL="279400" indent="-279400">
              <a:spcAft>
                <a:spcPts val="1000"/>
              </a:spcAft>
              <a:buClr>
                <a:schemeClr val="accent1"/>
              </a:buClr>
              <a:buSzPct val="100000"/>
              <a:buChar char="•"/>
            </a:pPr>
            <a:r>
              <a:rPr lang="en-US" sz="1800" dirty="0">
                <a:solidFill>
                  <a:schemeClr val="tx1"/>
                </a:solidFill>
              </a:rPr>
              <a:t>What you want to improve</a:t>
            </a:r>
          </a:p>
          <a:p>
            <a:pPr marL="285750" indent="-285750">
              <a:spcAft>
                <a:spcPts val="1000"/>
              </a:spcAft>
              <a:buClr>
                <a:schemeClr val="accent1"/>
              </a:buClr>
              <a:buSzPct val="100000"/>
              <a:buFont typeface="Wingdings" panose="05000000000000000000" pitchFamily="2" charset="2"/>
              <a:buChar char="Ø"/>
            </a:pPr>
            <a:r>
              <a:rPr lang="en-IN" sz="1700" dirty="0"/>
              <a:t>Reduce waiting time and eliminate unnecessary queues.</a:t>
            </a:r>
          </a:p>
          <a:p>
            <a:pPr marL="285750" indent="-285750">
              <a:spcAft>
                <a:spcPts val="1000"/>
              </a:spcAft>
              <a:buClr>
                <a:schemeClr val="accent1"/>
              </a:buClr>
              <a:buSzPct val="100000"/>
              <a:buFont typeface="Wingdings" panose="05000000000000000000" pitchFamily="2" charset="2"/>
              <a:buChar char="Ø"/>
            </a:pPr>
            <a:r>
              <a:rPr lang="en-IN" sz="1700" dirty="0"/>
              <a:t>Enable flexible printing and collection beyond regular counter hours, where infrastructure permits.</a:t>
            </a:r>
          </a:p>
          <a:p>
            <a:pPr marL="285750" indent="-285750">
              <a:spcAft>
                <a:spcPts val="1000"/>
              </a:spcAft>
              <a:buClr>
                <a:schemeClr val="accent1"/>
              </a:buClr>
              <a:buSzPct val="100000"/>
              <a:buFont typeface="Wingdings" panose="05000000000000000000" pitchFamily="2" charset="2"/>
              <a:buChar char="Ø"/>
            </a:pPr>
            <a:r>
              <a:rPr lang="en-IN" sz="1700" dirty="0">
                <a:solidFill>
                  <a:schemeClr val="tx1"/>
                </a:solidFill>
              </a:rPr>
              <a:t>To make the process more efficient .</a:t>
            </a:r>
            <a:endParaRPr lang="en-US" sz="1700" dirty="0">
              <a:solidFill>
                <a:schemeClr val="tx1"/>
              </a:solidFill>
            </a:endParaRP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11" name="TextBox 10">
            <a:extLst>
              <a:ext uri="{FF2B5EF4-FFF2-40B4-BE49-F238E27FC236}">
                <a16:creationId xmlns:a16="http://schemas.microsoft.com/office/drawing/2014/main" id="{82340130-97A3-DC08-511E-C2BA4139BDA3}"/>
              </a:ext>
            </a:extLst>
          </p:cNvPr>
          <p:cNvSpPr txBox="1"/>
          <p:nvPr/>
        </p:nvSpPr>
        <p:spPr>
          <a:xfrm>
            <a:off x="6096000" y="2144181"/>
            <a:ext cx="6020671" cy="1477328"/>
          </a:xfrm>
          <a:prstGeom prst="rect">
            <a:avLst/>
          </a:prstGeom>
          <a:noFill/>
        </p:spPr>
        <p:txBody>
          <a:bodyPr wrap="square" rtlCol="0">
            <a:spAutoFit/>
          </a:bodyPr>
          <a:lstStyle/>
          <a:p>
            <a:pPr marL="279400" indent="-279400">
              <a:buClr>
                <a:schemeClr val="accent1"/>
              </a:buClr>
              <a:buSzPct val="100000"/>
              <a:buChar char="•"/>
            </a:pPr>
            <a:r>
              <a:rPr lang="en-US" dirty="0"/>
              <a:t>What successful improvement should you achieve</a:t>
            </a:r>
            <a:endParaRPr lang="en-IN" dirty="0"/>
          </a:p>
          <a:p>
            <a:pPr marL="285750" indent="-285750">
              <a:buClr>
                <a:schemeClr val="accent1"/>
              </a:buClr>
              <a:buSzPct val="100000"/>
              <a:buFont typeface="Wingdings" panose="05000000000000000000" pitchFamily="2" charset="2"/>
              <a:buChar char="Ø"/>
            </a:pPr>
            <a:r>
              <a:rPr lang="en-IN" dirty="0"/>
              <a:t>A smoother, faster, and more convenient printing experience.</a:t>
            </a:r>
          </a:p>
          <a:p>
            <a:pPr marL="285750" indent="-285750">
              <a:buClr>
                <a:schemeClr val="accent1"/>
              </a:buClr>
              <a:buSzPct val="100000"/>
              <a:buFont typeface="Wingdings" panose="05000000000000000000" pitchFamily="2" charset="2"/>
              <a:buChar char="Ø"/>
            </a:pPr>
            <a:r>
              <a:rPr lang="en-IN" dirty="0"/>
              <a:t>Reduced dependence on counter-based services.</a:t>
            </a:r>
          </a:p>
          <a:p>
            <a:pPr marL="285750" indent="-285750">
              <a:buClr>
                <a:schemeClr val="accent1"/>
              </a:buClr>
              <a:buSzPct val="100000"/>
              <a:buFont typeface="Wingdings" panose="05000000000000000000" pitchFamily="2" charset="2"/>
              <a:buChar char="Ø"/>
            </a:pPr>
            <a:r>
              <a:rPr lang="en-IN" dirty="0"/>
              <a:t>Fewer manual steps in the printing process</a:t>
            </a:r>
            <a:r>
              <a:rPr lang="en-IN" sz="1600" dirty="0"/>
              <a: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ROBOROOKIES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2519166070"/>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dirty="0">
                          <a:solidFill>
                            <a:schemeClr val="bg2">
                              <a:lumMod val="10000"/>
                            </a:schemeClr>
                          </a:solidFill>
                        </a:rPr>
                        <a:t>T</a:t>
                      </a:r>
                      <a:r>
                        <a:rPr lang="en-US" sz="1400" dirty="0">
                          <a:solidFill>
                            <a:schemeClr val="accent6">
                              <a:lumMod val="10000"/>
                            </a:schemeClr>
                          </a:solidFill>
                        </a:rPr>
                        <a:t>rishul Sankar. G </a:t>
                      </a:r>
                      <a:endParaRPr lang="en-US" sz="1400" dirty="0">
                        <a:solidFill>
                          <a:schemeClr val="accent6">
                            <a:lumMod val="10000"/>
                          </a:schemeClr>
                        </a:solidFill>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Role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dirty="0" err="1">
                          <a:solidFill>
                            <a:schemeClr val="bg2">
                              <a:lumMod val="10000"/>
                            </a:schemeClr>
                          </a:solidFill>
                        </a:rPr>
                        <a:t>Jeyarjun</a:t>
                      </a:r>
                      <a:r>
                        <a:rPr lang="en-US" sz="1400" dirty="0">
                          <a:solidFill>
                            <a:schemeClr val="bg2">
                              <a:lumMod val="10000"/>
                            </a:schemeClr>
                          </a:solidFill>
                        </a:rPr>
                        <a:t>. R </a:t>
                      </a:r>
                      <a:endParaRPr lang="en-US" sz="1400" dirty="0">
                        <a:solidFill>
                          <a:schemeClr val="bg2">
                            <a:lumMod val="10000"/>
                          </a:schemeClr>
                        </a:solidFill>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dirty="0" err="1">
                          <a:solidFill>
                            <a:schemeClr val="bg2">
                              <a:lumMod val="10000"/>
                            </a:schemeClr>
                          </a:solidFill>
                        </a:rPr>
                        <a:t>Subradheepan</a:t>
                      </a:r>
                      <a:r>
                        <a:rPr lang="en-US" sz="1400" dirty="0">
                          <a:solidFill>
                            <a:schemeClr val="bg2">
                              <a:lumMod val="10000"/>
                            </a:schemeClr>
                          </a:solidFill>
                        </a:rPr>
                        <a:t> K </a:t>
                      </a:r>
                      <a:endParaRPr lang="en-US" sz="1400" dirty="0">
                        <a:solidFill>
                          <a:schemeClr val="bg2">
                            <a:lumMod val="10000"/>
                          </a:schemeClr>
                        </a:solidFill>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dirty="0">
                          <a:solidFill>
                            <a:schemeClr val="bg2">
                              <a:lumMod val="10000"/>
                            </a:schemeClr>
                          </a:solidFill>
                        </a:rPr>
                        <a:t>Shashwat Harith </a:t>
                      </a:r>
                      <a:endParaRPr lang="en-US" sz="1400" dirty="0">
                        <a:solidFill>
                          <a:schemeClr val="bg2">
                            <a:lumMod val="10000"/>
                          </a:schemeClr>
                        </a:solidFill>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848</Words>
  <Application>Microsoft Office PowerPoint</Application>
  <PresentationFormat>Widescreen</PresentationFormat>
  <Paragraphs>153</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JEYARJUN RAKSHITH</cp:lastModifiedBy>
  <cp:revision>8</cp:revision>
  <dcterms:created xsi:type="dcterms:W3CDTF">2026-10-07T15:27:40Z</dcterms:created>
  <dcterms:modified xsi:type="dcterms:W3CDTF">2026-10-09T18:07:44Z</dcterms:modified>
</cp:coreProperties>
</file>