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6" r:id="rId2"/>
    <p:sldId id="267" r:id="rId3"/>
    <p:sldId id="258" r:id="rId4"/>
    <p:sldId id="259" r:id="rId5"/>
    <p:sldId id="268" r:id="rId6"/>
    <p:sldId id="260" r:id="rId7"/>
    <p:sldId id="261" r:id="rId8"/>
    <p:sldId id="262" r:id="rId9"/>
    <p:sldId id="263" r:id="rId10"/>
    <p:sldId id="265"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66"/>
            <p14:sldId id="267"/>
            <p14:sldId id="258"/>
            <p14:sldId id="259"/>
            <p14:sldId id="268"/>
            <p14:sldId id="260"/>
            <p14:sldId id="261"/>
            <p14:sldId id="262"/>
            <p14:sldId id="263"/>
            <p14:sldId id="265"/>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58"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947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30D7-75D5-6F72-242C-3080496C8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2F4EF-A41E-CFFB-F65B-228748761E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59995-2A7C-95A0-1BAE-48560AF741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93E29D-175B-B737-F9F0-35EEA80C788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11804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B446-332F-AAD8-60AF-8ABE269DB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F1D49-3837-CB88-9266-E42E209F7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D1AF9A-FF0E-C078-3557-900BB8A2D8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3A2642-998E-5B68-6742-76A440248C9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64263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25995" y="3719361"/>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a:solidFill>
                  <a:schemeClr val="bg1"/>
                </a:solidFill>
              </a:rPr>
              <a:t>Team Name –</a:t>
            </a:r>
            <a:endParaRPr lang="en-US" sz="1800"/>
          </a:p>
          <a:p>
            <a:pPr marL="279400" indent="-279400">
              <a:spcAft>
                <a:spcPts val="1400"/>
              </a:spcAft>
              <a:buClr>
                <a:schemeClr val="accent3"/>
              </a:buClr>
              <a:buSzPct val="100000"/>
              <a:buChar char="•"/>
            </a:pPr>
            <a:r>
              <a:rPr lang="en-US" sz="1800">
                <a:solidFill>
                  <a:schemeClr val="bg1"/>
                </a:solidFill>
              </a:rPr>
              <a:t>Team Members –</a:t>
            </a:r>
            <a:endParaRPr lang="en-US" sz="1800"/>
          </a:p>
          <a:p>
            <a:pPr marL="279400" indent="-279400">
              <a:spcAft>
                <a:spcPts val="1400"/>
              </a:spcAft>
              <a:buClr>
                <a:schemeClr val="accent3"/>
              </a:buClr>
              <a:buSzPct val="100000"/>
              <a:buChar char="•"/>
            </a:pPr>
            <a:r>
              <a:rPr lang="en-US" sz="1800">
                <a:solidFill>
                  <a:schemeClr val="bg1"/>
                </a:solidFill>
              </a:rPr>
              <a:t>Selected Domain –</a:t>
            </a:r>
            <a:endParaRPr lang="en-US" sz="1800"/>
          </a:p>
          <a:p>
            <a:pPr marL="279400" indent="-279400">
              <a:spcAft>
                <a:spcPts val="1400"/>
              </a:spcAft>
              <a:buClr>
                <a:schemeClr val="accent3"/>
              </a:buClr>
              <a:buSzPct val="100000"/>
              <a:buChar char="•"/>
            </a:pPr>
            <a:r>
              <a:rPr lang="en-US" sz="1800">
                <a:solidFill>
                  <a:schemeClr val="bg1"/>
                </a:solidFill>
              </a:rPr>
              <a:t>Problem Statement –</a:t>
            </a:r>
            <a:endParaRPr lang="en-US" sz="1800" dirty="0"/>
          </a:p>
        </p:txBody>
      </p:sp>
      <p:sp>
        <p:nvSpPr>
          <p:cNvPr id="16" name="TextBox 15">
            <a:extLst>
              <a:ext uri="{FF2B5EF4-FFF2-40B4-BE49-F238E27FC236}">
                <a16:creationId xmlns:a16="http://schemas.microsoft.com/office/drawing/2014/main" id="{FE5296C0-3341-75A3-78B9-9AE7071FB607}"/>
              </a:ext>
            </a:extLst>
          </p:cNvPr>
          <p:cNvSpPr txBox="1"/>
          <p:nvPr/>
        </p:nvSpPr>
        <p:spPr>
          <a:xfrm>
            <a:off x="2363392" y="3685831"/>
            <a:ext cx="1180123" cy="369332"/>
          </a:xfrm>
          <a:prstGeom prst="rect">
            <a:avLst/>
          </a:prstGeom>
          <a:noFill/>
        </p:spPr>
        <p:txBody>
          <a:bodyPr wrap="square" rtlCol="0">
            <a:spAutoFit/>
          </a:bodyPr>
          <a:lstStyle/>
          <a:p>
            <a:r>
              <a:rPr lang="en-US" dirty="0">
                <a:solidFill>
                  <a:schemeClr val="bg1"/>
                </a:solidFill>
              </a:rPr>
              <a:t>Team Flux</a:t>
            </a:r>
            <a:endParaRPr lang="en-IN" dirty="0">
              <a:solidFill>
                <a:schemeClr val="bg1"/>
              </a:solidFill>
            </a:endParaRPr>
          </a:p>
        </p:txBody>
      </p:sp>
      <p:sp>
        <p:nvSpPr>
          <p:cNvPr id="18" name="TextBox 17">
            <a:extLst>
              <a:ext uri="{FF2B5EF4-FFF2-40B4-BE49-F238E27FC236}">
                <a16:creationId xmlns:a16="http://schemas.microsoft.com/office/drawing/2014/main" id="{D47DE47F-8F7A-9F4A-7AB7-B7A791F10A4B}"/>
              </a:ext>
            </a:extLst>
          </p:cNvPr>
          <p:cNvSpPr txBox="1"/>
          <p:nvPr/>
        </p:nvSpPr>
        <p:spPr>
          <a:xfrm>
            <a:off x="2500609" y="4130647"/>
            <a:ext cx="7498355" cy="369332"/>
          </a:xfrm>
          <a:prstGeom prst="rect">
            <a:avLst/>
          </a:prstGeom>
          <a:noFill/>
        </p:spPr>
        <p:txBody>
          <a:bodyPr wrap="square" rtlCol="0">
            <a:spAutoFit/>
          </a:bodyPr>
          <a:lstStyle/>
          <a:p>
            <a:r>
              <a:rPr lang="en-US" dirty="0">
                <a:solidFill>
                  <a:schemeClr val="bg1"/>
                </a:solidFill>
              </a:rPr>
              <a:t>Gokul Santhosh V , Harini ,Sarvajit N , Shahana </a:t>
            </a:r>
            <a:endParaRPr lang="en-IN" dirty="0">
              <a:solidFill>
                <a:schemeClr val="bg1"/>
              </a:solidFill>
            </a:endParaRPr>
          </a:p>
        </p:txBody>
      </p:sp>
      <p:sp>
        <p:nvSpPr>
          <p:cNvPr id="20" name="TextBox 19">
            <a:extLst>
              <a:ext uri="{FF2B5EF4-FFF2-40B4-BE49-F238E27FC236}">
                <a16:creationId xmlns:a16="http://schemas.microsoft.com/office/drawing/2014/main" id="{54DE4C14-B5A1-046E-4CCE-F4D75F4B337B}"/>
              </a:ext>
            </a:extLst>
          </p:cNvPr>
          <p:cNvSpPr txBox="1"/>
          <p:nvPr/>
        </p:nvSpPr>
        <p:spPr>
          <a:xfrm>
            <a:off x="2646768" y="4591934"/>
            <a:ext cx="4698883" cy="369332"/>
          </a:xfrm>
          <a:prstGeom prst="rect">
            <a:avLst/>
          </a:prstGeom>
          <a:noFill/>
        </p:spPr>
        <p:txBody>
          <a:bodyPr wrap="square" rtlCol="0">
            <a:spAutoFit/>
          </a:bodyPr>
          <a:lstStyle/>
          <a:p>
            <a:r>
              <a:rPr lang="en-US" dirty="0">
                <a:solidFill>
                  <a:schemeClr val="bg1"/>
                </a:solidFill>
              </a:rPr>
              <a:t>Digital Technologies , AI and Cyber Security </a:t>
            </a:r>
            <a:endParaRPr lang="en-IN" dirty="0">
              <a:solidFill>
                <a:schemeClr val="bg1"/>
              </a:solidFill>
            </a:endParaRPr>
          </a:p>
        </p:txBody>
      </p:sp>
      <p:sp>
        <p:nvSpPr>
          <p:cNvPr id="22" name="TextBox 21">
            <a:extLst>
              <a:ext uri="{FF2B5EF4-FFF2-40B4-BE49-F238E27FC236}">
                <a16:creationId xmlns:a16="http://schemas.microsoft.com/office/drawing/2014/main" id="{8EF82014-9A06-F428-45CE-1F1792E77B46}"/>
              </a:ext>
            </a:extLst>
          </p:cNvPr>
          <p:cNvSpPr txBox="1"/>
          <p:nvPr/>
        </p:nvSpPr>
        <p:spPr>
          <a:xfrm>
            <a:off x="2887951" y="5083586"/>
            <a:ext cx="8031538" cy="1600438"/>
          </a:xfrm>
          <a:prstGeom prst="rect">
            <a:avLst/>
          </a:prstGeom>
          <a:noFill/>
        </p:spPr>
        <p:txBody>
          <a:bodyPr wrap="square" rtlCol="0">
            <a:spAutoFit/>
          </a:bodyPr>
          <a:lstStyle/>
          <a:p>
            <a:r>
              <a:rPr lang="en-US" sz="1400" dirty="0">
                <a:solidFill>
                  <a:schemeClr val="bg1"/>
                </a:solidFill>
              </a:rPr>
              <a:t>Question papers for important exams, such as entrance tests, board exams, and recruitment exams, pass through a long, mostly manual chain of setting, printing, packing, transport, storage, and distribution to many </a:t>
            </a:r>
            <a:r>
              <a:rPr lang="en-US" sz="1400" dirty="0" err="1">
                <a:solidFill>
                  <a:schemeClr val="bg1"/>
                </a:solidFill>
              </a:rPr>
              <a:t>centres</a:t>
            </a:r>
            <a:r>
              <a:rPr lang="en-US" sz="1400" dirty="0">
                <a:solidFill>
                  <a:schemeClr val="bg1"/>
                </a:solidFill>
              </a:rPr>
              <a:t>. Because there is no end-to-end tracking, tamper detection, or accountability at each handover, a single compromised person or location can leak the paper before the exam. Leaks damage fairness, force exams to be cancelled or repeated, and destroy the trust of lakhs of students. There is a need for a secure, traceable, tamper-proof system that protects any high-stakes question paper at every stage and detects unauthorized access in real time.</a:t>
            </a:r>
            <a:endParaRPr lang="en-IN" sz="1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9916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1" name="TextBox 10">
            <a:extLst>
              <a:ext uri="{FF2B5EF4-FFF2-40B4-BE49-F238E27FC236}">
                <a16:creationId xmlns:a16="http://schemas.microsoft.com/office/drawing/2014/main" id="{6024F967-7456-288F-E953-242F8498741D}"/>
              </a:ext>
            </a:extLst>
          </p:cNvPr>
          <p:cNvSpPr txBox="1"/>
          <p:nvPr/>
        </p:nvSpPr>
        <p:spPr>
          <a:xfrm>
            <a:off x="868680" y="2934678"/>
            <a:ext cx="9768840" cy="1569660"/>
          </a:xfrm>
          <a:prstGeom prst="rect">
            <a:avLst/>
          </a:prstGeom>
          <a:noFill/>
        </p:spPr>
        <p:txBody>
          <a:bodyPr wrap="square" rtlCol="0">
            <a:spAutoFit/>
          </a:bodyPr>
          <a:lstStyle/>
          <a:p>
            <a:r>
              <a:rPr lang="en-US" sz="1200" dirty="0"/>
              <a:t>What exactly needs to be solved?</a:t>
            </a:r>
          </a:p>
          <a:p>
            <a:endParaRPr lang="en-US" sz="1200" dirty="0"/>
          </a:p>
          <a:p>
            <a:r>
              <a:rPr lang="en-US" sz="1200" dirty="0"/>
              <a:t>Important question papers get leaked because they are handled through a long, manual chain .</a:t>
            </a:r>
          </a:p>
          <a:p>
            <a:r>
              <a:rPr lang="en-US" sz="1200" dirty="0"/>
              <a:t>(setting → printing → packing → transport → storage →exam </a:t>
            </a:r>
            <a:r>
              <a:rPr lang="en-US" sz="1200" dirty="0" err="1"/>
              <a:t>centre</a:t>
            </a:r>
            <a:r>
              <a:rPr lang="en-US" sz="1200" dirty="0"/>
              <a:t>) with no end-to-end tracking or tamper detection.</a:t>
            </a:r>
          </a:p>
          <a:p>
            <a:r>
              <a:rPr lang="en-US" sz="1200" dirty="0"/>
              <a:t> We need to solve:</a:t>
            </a:r>
          </a:p>
          <a:p>
            <a:r>
              <a:rPr lang="en-US" sz="1200" dirty="0"/>
              <a:t>1.How to keep the paper unreadable to anyone before the exam.</a:t>
            </a:r>
          </a:p>
          <a:p>
            <a:r>
              <a:rPr lang="en-US" sz="1200" dirty="0"/>
              <a:t>2.How to trace who handled it at every step</a:t>
            </a:r>
          </a:p>
          <a:p>
            <a:r>
              <a:rPr lang="en-US" sz="1200" dirty="0"/>
              <a:t>3.How to leaks or tampering quickly and act before the exam</a:t>
            </a:r>
            <a:endParaRPr lang="en-IN" sz="1200" dirty="0"/>
          </a:p>
        </p:txBody>
      </p:sp>
      <p:sp>
        <p:nvSpPr>
          <p:cNvPr id="15" name="TextBox 14">
            <a:extLst>
              <a:ext uri="{FF2B5EF4-FFF2-40B4-BE49-F238E27FC236}">
                <a16:creationId xmlns:a16="http://schemas.microsoft.com/office/drawing/2014/main" id="{126B3278-B700-06B1-EF6C-DBFD0140703F}"/>
              </a:ext>
            </a:extLst>
          </p:cNvPr>
          <p:cNvSpPr txBox="1"/>
          <p:nvPr/>
        </p:nvSpPr>
        <p:spPr>
          <a:xfrm>
            <a:off x="868680" y="4675860"/>
            <a:ext cx="10074031" cy="1384995"/>
          </a:xfrm>
          <a:prstGeom prst="rect">
            <a:avLst/>
          </a:prstGeom>
          <a:noFill/>
        </p:spPr>
        <p:txBody>
          <a:bodyPr wrap="square">
            <a:spAutoFit/>
          </a:bodyPr>
          <a:lstStyle/>
          <a:p>
            <a:r>
              <a:rPr lang="en-IN" sz="1200" dirty="0"/>
              <a:t>Why is it important right now?</a:t>
            </a:r>
          </a:p>
          <a:p>
            <a:endParaRPr lang="en-IN" sz="1200" dirty="0"/>
          </a:p>
          <a:p>
            <a:r>
              <a:rPr lang="en-IN" sz="1200" dirty="0"/>
              <a:t>Leaks keep happening across entrance, board, and recruitment exams, leading to cancelled exams, re-tests, and court cases.</a:t>
            </a:r>
          </a:p>
          <a:p>
            <a:r>
              <a:rPr lang="en-IN" sz="1200" dirty="0"/>
              <a:t>Lakhs of students lose time, money, and trust, and honest students suffer the most.</a:t>
            </a:r>
          </a:p>
          <a:p>
            <a:r>
              <a:rPr lang="en-IN" sz="1200" dirty="0"/>
              <a:t>Exams are growing in scale, with more centres and more people involved, so the risk of a weak link is higher.</a:t>
            </a:r>
          </a:p>
          <a:p>
            <a:r>
              <a:rPr lang="en-IN" sz="1200" dirty="0"/>
              <a:t>Leaked papers now spread within minutes through messaging apps and social media.</a:t>
            </a:r>
          </a:p>
          <a:p>
            <a:r>
              <a:rPr lang="en-IN" sz="1200" dirty="0"/>
              <a:t>Tools like encryption, digital audit trails, and AI monitoring are now affordable and ready to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12" name="Team Name">
            <a:extLst>
              <a:ext uri="{FF2B5EF4-FFF2-40B4-BE49-F238E27FC236}">
                <a16:creationId xmlns:a16="http://schemas.microsoft.com/office/drawing/2014/main" id="{CF804384-2823-2D30-0BF1-4A7616011E8A}"/>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pic>
        <p:nvPicPr>
          <p:cNvPr id="13" name="Picture 12">
            <a:extLst>
              <a:ext uri="{FF2B5EF4-FFF2-40B4-BE49-F238E27FC236}">
                <a16:creationId xmlns:a16="http://schemas.microsoft.com/office/drawing/2014/main" id="{20E215C4-F9A9-EC13-2755-5FD1028C43B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559242" y="1306068"/>
            <a:ext cx="9355455" cy="50188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2" name="Team Name">
            <a:extLst>
              <a:ext uri="{FF2B5EF4-FFF2-40B4-BE49-F238E27FC236}">
                <a16:creationId xmlns:a16="http://schemas.microsoft.com/office/drawing/2014/main" id="{94A4A7A5-45B5-F9C4-FCE3-2574780458D4}"/>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pic>
        <p:nvPicPr>
          <p:cNvPr id="13" name="Picture 12">
            <a:extLst>
              <a:ext uri="{FF2B5EF4-FFF2-40B4-BE49-F238E27FC236}">
                <a16:creationId xmlns:a16="http://schemas.microsoft.com/office/drawing/2014/main" id="{880B14E0-03B8-EB2E-A533-EC2BF231FC5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559242" y="968320"/>
            <a:ext cx="9355456" cy="4921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67DE-974D-664A-5E4C-02888662BDCB}"/>
            </a:ext>
          </a:extLst>
        </p:cNvPr>
        <p:cNvGrpSpPr/>
        <p:nvPr/>
      </p:nvGrpSpPr>
      <p:grpSpPr>
        <a:xfrm>
          <a:off x="0" y="0"/>
          <a:ext cx="0" cy="0"/>
          <a:chOff x="0" y="0"/>
          <a:chExt cx="0" cy="0"/>
        </a:xfrm>
      </p:grpSpPr>
      <p:sp>
        <p:nvSpPr>
          <p:cNvPr id="2" name="Text 7">
            <a:extLst>
              <a:ext uri="{FF2B5EF4-FFF2-40B4-BE49-F238E27FC236}">
                <a16:creationId xmlns:a16="http://schemas.microsoft.com/office/drawing/2014/main" id="{B6CB9F5C-3C09-6D04-A92F-BD772F6C2FF8}"/>
              </a:ext>
            </a:extLst>
          </p:cNvPr>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a:extLst>
              <a:ext uri="{FF2B5EF4-FFF2-40B4-BE49-F238E27FC236}">
                <a16:creationId xmlns:a16="http://schemas.microsoft.com/office/drawing/2014/main" id="{CA4BACD9-5774-8DF3-DF85-E0B7C362D0D7}"/>
              </a:ext>
            </a:extLst>
          </p:cNvPr>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a:extLst>
              <a:ext uri="{FF2B5EF4-FFF2-40B4-BE49-F238E27FC236}">
                <a16:creationId xmlns:a16="http://schemas.microsoft.com/office/drawing/2014/main" id="{DE475406-D1CD-6940-B343-4BD59E62E9A4}"/>
              </a:ext>
            </a:extLst>
          </p:cNvPr>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a:extLst>
              <a:ext uri="{FF2B5EF4-FFF2-40B4-BE49-F238E27FC236}">
                <a16:creationId xmlns:a16="http://schemas.microsoft.com/office/drawing/2014/main" id="{F223D6A9-1ABD-27A2-D980-B2A413A2A322}"/>
              </a:ext>
            </a:extLst>
          </p:cNvPr>
          <p:cNvPicPr>
            <a:picLocks noChangeAspect="1"/>
          </p:cNvPicPr>
          <p:nvPr/>
        </p:nvPicPr>
        <p:blipFill>
          <a:blip r:embed="rId3"/>
          <a:stretch>
            <a:fillRect/>
          </a:stretch>
        </p:blipFill>
        <p:spPr>
          <a:xfrm>
            <a:off x="736092" y="548640"/>
            <a:ext cx="365760" cy="365760"/>
          </a:xfrm>
          <a:prstGeom prst="rect">
            <a:avLst/>
          </a:prstGeom>
        </p:spPr>
      </p:pic>
      <p:sp>
        <p:nvSpPr>
          <p:cNvPr id="7" name="Lead Icon Hex">
            <a:extLst>
              <a:ext uri="{FF2B5EF4-FFF2-40B4-BE49-F238E27FC236}">
                <a16:creationId xmlns:a16="http://schemas.microsoft.com/office/drawing/2014/main" id="{9EC46B6C-829C-FCA5-497E-651073F2DA7B}"/>
              </a:ext>
            </a:extLst>
          </p:cNvPr>
          <p:cNvSpPr/>
          <p:nvPr/>
        </p:nvSpPr>
        <p:spPr>
          <a:xfrm>
            <a:off x="548640" y="1463040"/>
            <a:ext cx="457200" cy="395935"/>
          </a:xfrm>
          <a:prstGeom prst="hexagon">
            <a:avLst/>
          </a:prstGeom>
          <a:solidFill>
            <a:schemeClr val="accent3"/>
          </a:solidFill>
          <a:ln/>
        </p:spPr>
      </p:sp>
      <p:pic>
        <p:nvPicPr>
          <p:cNvPr id="8" name="Lead Icon" descr="Lightbulb icon">
            <a:extLst>
              <a:ext uri="{FF2B5EF4-FFF2-40B4-BE49-F238E27FC236}">
                <a16:creationId xmlns:a16="http://schemas.microsoft.com/office/drawing/2014/main" id="{617A29D4-815F-3614-2CF5-2D52A30CDA25}"/>
              </a:ext>
            </a:extLst>
          </p:cNvPr>
          <p:cNvPicPr>
            <a:picLocks noChangeAspect="1"/>
          </p:cNvPicPr>
          <p:nvPr/>
        </p:nvPicPr>
        <p:blipFill>
          <a:blip r:embed="rId4"/>
          <a:stretch>
            <a:fillRect/>
          </a:stretch>
        </p:blipFill>
        <p:spPr>
          <a:xfrm>
            <a:off x="640080" y="1523390"/>
            <a:ext cx="274320" cy="274320"/>
          </a:xfrm>
          <a:prstGeom prst="rect">
            <a:avLst/>
          </a:prstGeom>
        </p:spPr>
      </p:pic>
      <p:sp>
        <p:nvSpPr>
          <p:cNvPr id="10" name="Prompts">
            <a:extLst>
              <a:ext uri="{FF2B5EF4-FFF2-40B4-BE49-F238E27FC236}">
                <a16:creationId xmlns:a16="http://schemas.microsoft.com/office/drawing/2014/main" id="{D42A244B-5D81-C0AF-A295-22CCD5FED5B2}"/>
              </a:ext>
            </a:extLst>
          </p:cNvPr>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endParaRPr lang="en-US" sz="1800" dirty="0"/>
          </a:p>
        </p:txBody>
      </p:sp>
      <p:sp>
        <p:nvSpPr>
          <p:cNvPr id="25" name="Slide Number Placeholder 0">
            <a:extLst>
              <a:ext uri="{FF2B5EF4-FFF2-40B4-BE49-F238E27FC236}">
                <a16:creationId xmlns:a16="http://schemas.microsoft.com/office/drawing/2014/main" id="{D23BAD67-0920-C7F7-3A27-6880EED7A29D}"/>
              </a:ext>
            </a:extLst>
          </p:cNvPr>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2" name="Team Name">
            <a:extLst>
              <a:ext uri="{FF2B5EF4-FFF2-40B4-BE49-F238E27FC236}">
                <a16:creationId xmlns:a16="http://schemas.microsoft.com/office/drawing/2014/main" id="{937CF2A0-AE99-E552-B544-9306084BBE73}"/>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pic>
        <p:nvPicPr>
          <p:cNvPr id="6" name="Picture 5">
            <a:extLst>
              <a:ext uri="{FF2B5EF4-FFF2-40B4-BE49-F238E27FC236}">
                <a16:creationId xmlns:a16="http://schemas.microsoft.com/office/drawing/2014/main" id="{416301AA-2A08-38B9-ABA5-B9338442F3CB}"/>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676876" y="1207008"/>
            <a:ext cx="9120188" cy="5143500"/>
          </a:xfrm>
          <a:prstGeom prst="rect">
            <a:avLst/>
          </a:prstGeom>
        </p:spPr>
      </p:pic>
    </p:spTree>
    <p:extLst>
      <p:ext uri="{BB962C8B-B14F-4D97-AF65-F5344CB8AC3E}">
        <p14:creationId xmlns:p14="http://schemas.microsoft.com/office/powerpoint/2010/main" val="1345066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pic>
        <p:nvPicPr>
          <p:cNvPr id="14" name="Picture 13">
            <a:extLst>
              <a:ext uri="{FF2B5EF4-FFF2-40B4-BE49-F238E27FC236}">
                <a16:creationId xmlns:a16="http://schemas.microsoft.com/office/drawing/2014/main" id="{898307F9-7D96-3198-6DA0-3A5BD56E57D8}"/>
              </a:ext>
            </a:extLst>
          </p:cNvPr>
          <p:cNvPicPr>
            <a:picLocks noChangeAspect="1"/>
          </p:cNvPicPr>
          <p:nvPr/>
        </p:nvPicPr>
        <p:blipFill>
          <a:blip r:embed="rId4"/>
          <a:stretch>
            <a:fillRect/>
          </a:stretch>
        </p:blipFill>
        <p:spPr>
          <a:xfrm>
            <a:off x="0" y="1207008"/>
            <a:ext cx="12192000" cy="5085175"/>
          </a:xfrm>
          <a:prstGeom prst="rect">
            <a:avLst/>
          </a:prstGeom>
        </p:spPr>
      </p:pic>
      <p:sp>
        <p:nvSpPr>
          <p:cNvPr id="16" name="Team Name">
            <a:extLst>
              <a:ext uri="{FF2B5EF4-FFF2-40B4-BE49-F238E27FC236}">
                <a16:creationId xmlns:a16="http://schemas.microsoft.com/office/drawing/2014/main" id="{1BAA3942-C2B2-674E-A019-63AB5E1D057C}"/>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2" name="Team Name">
            <a:extLst>
              <a:ext uri="{FF2B5EF4-FFF2-40B4-BE49-F238E27FC236}">
                <a16:creationId xmlns:a16="http://schemas.microsoft.com/office/drawing/2014/main" id="{F058B557-3C09-60EF-012B-53DECFAC7425}"/>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pic>
        <p:nvPicPr>
          <p:cNvPr id="14" name="Picture 13">
            <a:extLst>
              <a:ext uri="{FF2B5EF4-FFF2-40B4-BE49-F238E27FC236}">
                <a16:creationId xmlns:a16="http://schemas.microsoft.com/office/drawing/2014/main" id="{AE4913D2-F196-D5F4-60EC-85512B3822D6}"/>
              </a:ext>
            </a:extLst>
          </p:cNvPr>
          <p:cNvPicPr>
            <a:picLocks noChangeAspect="1"/>
          </p:cNvPicPr>
          <p:nvPr/>
        </p:nvPicPr>
        <p:blipFill>
          <a:blip r:embed="rId4"/>
          <a:stretch>
            <a:fillRect/>
          </a:stretch>
        </p:blipFill>
        <p:spPr>
          <a:xfrm>
            <a:off x="0" y="1207008"/>
            <a:ext cx="12192000" cy="508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1371600" y="1492910"/>
            <a:ext cx="10424160" cy="1645920"/>
          </a:xfrm>
          <a:prstGeom prst="rect">
            <a:avLst/>
          </a:prstGeom>
          <a:noFill/>
          <a:ln/>
        </p:spPr>
        <p:txBody>
          <a:bodyPr wrap="square" lIns="0" tIns="0" rIns="0" bIns="0" rtlCol="0" anchor="t"/>
          <a:lstStyle/>
          <a:p>
            <a:pPr fontAlgn="base"/>
            <a:r>
              <a:rPr lang="en-US" sz="1600" b="1" dirty="0"/>
              <a:t>EXISTING TECHNOLOGIES/APPROACHES</a:t>
            </a:r>
            <a:r>
              <a:rPr lang="en-US" sz="1600" dirty="0"/>
              <a:t>​</a:t>
            </a:r>
          </a:p>
          <a:p>
            <a:pPr fontAlgn="base"/>
            <a:r>
              <a:rPr lang="en-US" sz="1600" dirty="0"/>
              <a:t>​</a:t>
            </a:r>
          </a:p>
          <a:p>
            <a:pPr fontAlgn="base"/>
            <a:r>
              <a:rPr lang="en-US" sz="1600" dirty="0"/>
              <a:t>• MFA (Multi-Factor Authentication): Verifies user identity using multiple factors.​</a:t>
            </a:r>
          </a:p>
          <a:p>
            <a:pPr fontAlgn="base"/>
            <a:r>
              <a:rPr lang="en-US" sz="1600" dirty="0"/>
              <a:t>​</a:t>
            </a:r>
          </a:p>
          <a:p>
            <a:pPr fontAlgn="base"/>
            <a:r>
              <a:rPr lang="en-US" sz="1600" dirty="0"/>
              <a:t>• RBAC (Role-Based Access Control): Restricts access based on user roles.​</a:t>
            </a:r>
          </a:p>
          <a:p>
            <a:pPr fontAlgn="base"/>
            <a:r>
              <a:rPr lang="en-US" sz="1600" dirty="0"/>
              <a:t>​</a:t>
            </a:r>
          </a:p>
          <a:p>
            <a:pPr fontAlgn="base"/>
            <a:r>
              <a:rPr lang="en-US" sz="1600" dirty="0"/>
              <a:t>• End-to-End Encryption (E2EE):Protects data during transmission.​</a:t>
            </a:r>
          </a:p>
          <a:p>
            <a:pPr fontAlgn="base"/>
            <a:r>
              <a:rPr lang="en-US" sz="1600" dirty="0"/>
              <a:t>​</a:t>
            </a:r>
          </a:p>
          <a:p>
            <a:pPr fontAlgn="base"/>
            <a:r>
              <a:rPr lang="en-US" sz="1600" dirty="0"/>
              <a:t>• AES-256 Encryption: Secures stored data.​</a:t>
            </a:r>
          </a:p>
          <a:p>
            <a:pPr fontAlgn="base"/>
            <a:r>
              <a:rPr lang="en-US" sz="1600" dirty="0"/>
              <a:t>​</a:t>
            </a:r>
          </a:p>
          <a:p>
            <a:pPr fontAlgn="base"/>
            <a:r>
              <a:rPr lang="en-US" sz="1600" dirty="0"/>
              <a:t>• TLS Encryption: Secures data exchanged over networks.​</a:t>
            </a:r>
          </a:p>
          <a:p>
            <a:pPr fontAlgn="base"/>
            <a:r>
              <a:rPr lang="en-US" sz="1600" dirty="0"/>
              <a:t>​</a:t>
            </a:r>
          </a:p>
          <a:p>
            <a:pPr fontAlgn="base"/>
            <a:r>
              <a:rPr lang="en-US" sz="1600" dirty="0"/>
              <a:t>• SIEM Monitoring: Collects and analyses security logs.​</a:t>
            </a:r>
          </a:p>
          <a:p>
            <a:pPr fontAlgn="base"/>
            <a:r>
              <a:rPr lang="en-US" sz="1600" dirty="0"/>
              <a:t>​</a:t>
            </a:r>
          </a:p>
          <a:p>
            <a:pPr fontAlgn="base"/>
            <a:r>
              <a:rPr lang="en-US" sz="1600" dirty="0"/>
              <a:t>• AI-Based Threat Detection: Identifies suspicious activities using </a:t>
            </a:r>
            <a:r>
              <a:rPr lang="en-US" sz="1600" dirty="0" err="1"/>
              <a:t>machinelearning</a:t>
            </a:r>
            <a:r>
              <a:rPr lang="en-US" sz="1600" dirty="0"/>
              <a:t>.​</a:t>
            </a:r>
          </a:p>
          <a:p>
            <a:pPr fontAlgn="base"/>
            <a:r>
              <a:rPr lang="en-US" sz="1600" dirty="0"/>
              <a:t>​</a:t>
            </a:r>
          </a:p>
          <a:p>
            <a:pPr fontAlgn="base"/>
            <a:r>
              <a:rPr lang="en-US" sz="1600" dirty="0"/>
              <a:t>• Zero Trust </a:t>
            </a:r>
            <a:r>
              <a:rPr lang="en-US" sz="1600" dirty="0" err="1"/>
              <a:t>Architecture:Verifies</a:t>
            </a:r>
            <a:r>
              <a:rPr lang="en-US" sz="1600" dirty="0"/>
              <a:t> every access request.</a:t>
            </a:r>
          </a:p>
          <a:p>
            <a:pPr fontAlgn="base"/>
            <a:r>
              <a:rPr lang="en-US" sz="1600" dirty="0"/>
              <a:t>Decision Tree Models: Classify activities based on predefined conditions.​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8" name="Team Name">
            <a:extLst>
              <a:ext uri="{FF2B5EF4-FFF2-40B4-BE49-F238E27FC236}">
                <a16:creationId xmlns:a16="http://schemas.microsoft.com/office/drawing/2014/main" id="{AF7E5DD6-025E-C3BE-F135-A4318C969549}"/>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pic>
        <p:nvPicPr>
          <p:cNvPr id="12" name="Picture 11">
            <a:extLst>
              <a:ext uri="{FF2B5EF4-FFF2-40B4-BE49-F238E27FC236}">
                <a16:creationId xmlns:a16="http://schemas.microsoft.com/office/drawing/2014/main" id="{E530B8F7-1901-67D7-5B7A-7B9AFA8822EB}"/>
              </a:ext>
            </a:extLst>
          </p:cNvPr>
          <p:cNvPicPr>
            <a:picLocks noChangeAspect="1"/>
          </p:cNvPicPr>
          <p:nvPr/>
        </p:nvPicPr>
        <p:blipFill>
          <a:blip r:embed="rId5"/>
          <a:stretch>
            <a:fillRect/>
          </a:stretch>
        </p:blipFill>
        <p:spPr>
          <a:xfrm>
            <a:off x="151885" y="1234440"/>
            <a:ext cx="12040115" cy="5074920"/>
          </a:xfrm>
          <a:prstGeom prst="rect">
            <a:avLst/>
          </a:prstGeom>
        </p:spPr>
      </p:pic>
      <p:sp>
        <p:nvSpPr>
          <p:cNvPr id="14" name="Team Name">
            <a:extLst>
              <a:ext uri="{FF2B5EF4-FFF2-40B4-BE49-F238E27FC236}">
                <a16:creationId xmlns:a16="http://schemas.microsoft.com/office/drawing/2014/main" id="{362FFD71-CA56-5030-37FA-47EC9BE606C9}"/>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F135F-38D1-32BB-68AE-6AA59CF9C6B3}"/>
            </a:ext>
          </a:extLst>
        </p:cNvPr>
        <p:cNvGrpSpPr/>
        <p:nvPr/>
      </p:nvGrpSpPr>
      <p:grpSpPr>
        <a:xfrm>
          <a:off x="0" y="0"/>
          <a:ext cx="0" cy="0"/>
          <a:chOff x="0" y="0"/>
          <a:chExt cx="0" cy="0"/>
        </a:xfrm>
      </p:grpSpPr>
      <p:sp>
        <p:nvSpPr>
          <p:cNvPr id="2" name="Text 7">
            <a:extLst>
              <a:ext uri="{FF2B5EF4-FFF2-40B4-BE49-F238E27FC236}">
                <a16:creationId xmlns:a16="http://schemas.microsoft.com/office/drawing/2014/main" id="{26868F74-12A3-ED9D-0B09-1E1FB8213296}"/>
              </a:ext>
            </a:extLst>
          </p:cNvPr>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dirty="0"/>
              <a:t>Expected Outcomes</a:t>
            </a:r>
          </a:p>
        </p:txBody>
      </p:sp>
      <p:sp>
        <p:nvSpPr>
          <p:cNvPr id="3" name="Team Badge">
            <a:extLst>
              <a:ext uri="{FF2B5EF4-FFF2-40B4-BE49-F238E27FC236}">
                <a16:creationId xmlns:a16="http://schemas.microsoft.com/office/drawing/2014/main" id="{D851BFC5-0CC8-1AB0-2419-D3A11A3C7C77}"/>
              </a:ext>
            </a:extLst>
          </p:cNvPr>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a:extLst>
              <a:ext uri="{FF2B5EF4-FFF2-40B4-BE49-F238E27FC236}">
                <a16:creationId xmlns:a16="http://schemas.microsoft.com/office/drawing/2014/main" id="{71088184-F19E-764D-1CC5-7084344D2BAD}"/>
              </a:ext>
            </a:extLst>
          </p:cNvPr>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a:extLst>
              <a:ext uri="{FF2B5EF4-FFF2-40B4-BE49-F238E27FC236}">
                <a16:creationId xmlns:a16="http://schemas.microsoft.com/office/drawing/2014/main" id="{F7AEC12A-3692-E22A-D29F-EBF898847DD5}"/>
              </a:ext>
            </a:extLst>
          </p:cNvPr>
          <p:cNvPicPr>
            <a:picLocks noChangeAspect="1"/>
          </p:cNvPicPr>
          <p:nvPr/>
        </p:nvPicPr>
        <p:blipFill>
          <a:blip r:embed="rId3"/>
          <a:stretch>
            <a:fillRect/>
          </a:stretch>
        </p:blipFill>
        <p:spPr>
          <a:xfrm>
            <a:off x="736092" y="548640"/>
            <a:ext cx="365760" cy="365760"/>
          </a:xfrm>
          <a:prstGeom prst="rect">
            <a:avLst/>
          </a:prstGeom>
        </p:spPr>
      </p:pic>
      <p:sp>
        <p:nvSpPr>
          <p:cNvPr id="6" name="Team Name">
            <a:extLst>
              <a:ext uri="{FF2B5EF4-FFF2-40B4-BE49-F238E27FC236}">
                <a16:creationId xmlns:a16="http://schemas.microsoft.com/office/drawing/2014/main" id="{ECEA486A-D400-7F99-8A4E-7B115C643096}"/>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Flux</a:t>
            </a:r>
            <a:endParaRPr lang="en-US" sz="900" dirty="0"/>
          </a:p>
        </p:txBody>
      </p:sp>
      <p:sp>
        <p:nvSpPr>
          <p:cNvPr id="7" name="Lead Icon Hex">
            <a:extLst>
              <a:ext uri="{FF2B5EF4-FFF2-40B4-BE49-F238E27FC236}">
                <a16:creationId xmlns:a16="http://schemas.microsoft.com/office/drawing/2014/main" id="{133DFE0E-7003-A6B4-580E-7739C1E8F679}"/>
              </a:ext>
            </a:extLst>
          </p:cNvPr>
          <p:cNvSpPr/>
          <p:nvPr/>
        </p:nvSpPr>
        <p:spPr>
          <a:xfrm>
            <a:off x="548640" y="1463040"/>
            <a:ext cx="457200" cy="395935"/>
          </a:xfrm>
          <a:prstGeom prst="hexagon">
            <a:avLst/>
          </a:prstGeom>
          <a:solidFill>
            <a:schemeClr val="accent3"/>
          </a:solidFill>
          <a:ln/>
        </p:spPr>
      </p:sp>
      <p:pic>
        <p:nvPicPr>
          <p:cNvPr id="8" name="Lead Icon" descr="Lightbulb icon">
            <a:extLst>
              <a:ext uri="{FF2B5EF4-FFF2-40B4-BE49-F238E27FC236}">
                <a16:creationId xmlns:a16="http://schemas.microsoft.com/office/drawing/2014/main" id="{40BA9AA5-3E7A-AFD3-0A5D-523B6A2B2C9B}"/>
              </a:ext>
            </a:extLst>
          </p:cNvPr>
          <p:cNvPicPr>
            <a:picLocks noChangeAspect="1"/>
          </p:cNvPicPr>
          <p:nvPr/>
        </p:nvPicPr>
        <p:blipFill>
          <a:blip r:embed="rId4"/>
          <a:stretch>
            <a:fillRect/>
          </a:stretch>
        </p:blipFill>
        <p:spPr>
          <a:xfrm>
            <a:off x="640080" y="1523390"/>
            <a:ext cx="274320" cy="274320"/>
          </a:xfrm>
          <a:prstGeom prst="rect">
            <a:avLst/>
          </a:prstGeom>
        </p:spPr>
      </p:pic>
      <p:sp>
        <p:nvSpPr>
          <p:cNvPr id="25" name="Slide Number Placeholder 0">
            <a:extLst>
              <a:ext uri="{FF2B5EF4-FFF2-40B4-BE49-F238E27FC236}">
                <a16:creationId xmlns:a16="http://schemas.microsoft.com/office/drawing/2014/main" id="{CF24C68B-529E-8675-5C41-B8A5B2D3898E}"/>
              </a:ext>
            </a:extLst>
          </p:cNvPr>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10</a:t>
            </a:fld>
            <a:endParaRPr lang="en-US"/>
          </a:p>
        </p:txBody>
      </p:sp>
      <p:pic>
        <p:nvPicPr>
          <p:cNvPr id="10" name="Picture 9">
            <a:extLst>
              <a:ext uri="{FF2B5EF4-FFF2-40B4-BE49-F238E27FC236}">
                <a16:creationId xmlns:a16="http://schemas.microsoft.com/office/drawing/2014/main" id="{CAADD023-F6F0-B1E9-191D-E3B06BB63B64}"/>
              </a:ext>
            </a:extLst>
          </p:cNvPr>
          <p:cNvPicPr>
            <a:picLocks noChangeAspect="1"/>
          </p:cNvPicPr>
          <p:nvPr/>
        </p:nvPicPr>
        <p:blipFill>
          <a:blip r:embed="rId5"/>
          <a:stretch>
            <a:fillRect/>
          </a:stretch>
        </p:blipFill>
        <p:spPr>
          <a:xfrm>
            <a:off x="56637" y="1097280"/>
            <a:ext cx="11834886" cy="5235394"/>
          </a:xfrm>
          <a:prstGeom prst="rect">
            <a:avLst/>
          </a:prstGeom>
        </p:spPr>
      </p:pic>
    </p:spTree>
    <p:extLst>
      <p:ext uri="{BB962C8B-B14F-4D97-AF65-F5344CB8AC3E}">
        <p14:creationId xmlns:p14="http://schemas.microsoft.com/office/powerpoint/2010/main" val="2251402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a:t>
            </a:r>
            <a:r>
              <a:rPr lang="en-US" sz="1800" b="1" dirty="0" err="1">
                <a:solidFill>
                  <a:schemeClr val="accent2"/>
                </a:solidFill>
              </a:rPr>
              <a:t>hanle</a:t>
            </a:r>
            <a:r>
              <a:rPr lang="en-US" sz="1800" b="1" dirty="0">
                <a:solidFill>
                  <a:schemeClr val="accent2"/>
                </a:solidFill>
              </a:rPr>
              <a:t>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744736086"/>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11</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558</TotalTime>
  <Words>633</Words>
  <Application>Microsoft Office PowerPoint</Application>
  <PresentationFormat>Widescreen</PresentationFormat>
  <Paragraphs>116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Genesis Ideathon</vt:lpstr>
      <vt:lpstr>PowerPoint Presentation</vt:lpstr>
      <vt:lpstr>DOMAIN PROBLEM IN OUR WORDS</vt:lpstr>
      <vt:lpstr>WHO IS AFFECTED?</vt:lpstr>
      <vt:lpstr>CURRENT SITUATION &amp; CONTEXT</vt:lpstr>
      <vt:lpstr>CURRENT SITUATION &amp; CONTEXT</vt:lpstr>
      <vt:lpstr>KEY CHALLENGES</vt:lpstr>
      <vt:lpstr>EXISTING SOLUTIONS / APPROACHES</vt:lpstr>
      <vt:lpstr>PROBLEM INSIGHTS &amp; OPPORTUNITY AREAS</vt:lpstr>
      <vt:lpstr>INITIAL DIRECTION</vt:lpstr>
      <vt:lpstr>Expected Outcomes</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Gokul Santhosh V</cp:lastModifiedBy>
  <cp:revision>2</cp:revision>
  <dcterms:created xsi:type="dcterms:W3CDTF">2026-10-07T15:27:40Z</dcterms:created>
  <dcterms:modified xsi:type="dcterms:W3CDTF">2026-10-09T18:58:41Z</dcterms:modified>
</cp:coreProperties>
</file>